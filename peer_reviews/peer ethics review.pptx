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9" d="100"/>
          <a:sy n="119" d="100"/>
        </p:scale>
        <p:origin x="79" y="2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3.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2175580-07D7-48F0-9073-A431D5C64D61}" type="doc">
      <dgm:prSet loTypeId="urn:microsoft.com/office/officeart/2018/2/layout/IconCircle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98E9876-1BC4-4BB1-BBE6-9BEB5BA191C3}">
      <dgm:prSet/>
      <dgm:spPr/>
      <dgm:t>
        <a:bodyPr/>
        <a:lstStyle/>
        <a:p>
          <a:pPr>
            <a:lnSpc>
              <a:spcPct val="100000"/>
            </a:lnSpc>
          </a:pPr>
          <a:r>
            <a:rPr lang="en-US" b="0" i="0" baseline="0"/>
            <a:t>LLMs → high compute &amp; energy </a:t>
          </a:r>
          <a:endParaRPr lang="en-US"/>
        </a:p>
      </dgm:t>
    </dgm:pt>
    <dgm:pt modelId="{50AB958A-646D-46E9-92F6-0733AD6D9813}" type="parTrans" cxnId="{848A0730-705C-485A-9271-9D42D955A644}">
      <dgm:prSet/>
      <dgm:spPr/>
      <dgm:t>
        <a:bodyPr/>
        <a:lstStyle/>
        <a:p>
          <a:endParaRPr lang="en-US"/>
        </a:p>
      </dgm:t>
    </dgm:pt>
    <dgm:pt modelId="{106C0DB6-BC4F-4AF0-A65A-BE9B08F86E34}" type="sibTrans" cxnId="{848A0730-705C-485A-9271-9D42D955A644}">
      <dgm:prSet/>
      <dgm:spPr/>
      <dgm:t>
        <a:bodyPr/>
        <a:lstStyle/>
        <a:p>
          <a:pPr>
            <a:lnSpc>
              <a:spcPct val="100000"/>
            </a:lnSpc>
          </a:pPr>
          <a:endParaRPr lang="en-US"/>
        </a:p>
      </dgm:t>
    </dgm:pt>
    <dgm:pt modelId="{3D4D1728-51D3-44F6-ABFA-9C65BE83C22B}">
      <dgm:prSet/>
      <dgm:spPr/>
      <dgm:t>
        <a:bodyPr/>
        <a:lstStyle/>
        <a:p>
          <a:pPr>
            <a:lnSpc>
              <a:spcPct val="100000"/>
            </a:lnSpc>
          </a:pPr>
          <a:r>
            <a:rPr lang="en-US" b="0" i="0" baseline="0"/>
            <a:t>Trade-off: performance vs efficiency </a:t>
          </a:r>
          <a:endParaRPr lang="en-US"/>
        </a:p>
      </dgm:t>
    </dgm:pt>
    <dgm:pt modelId="{90A8003E-1A32-48C3-AA13-A949219DAB86}" type="parTrans" cxnId="{6F29BB10-DE50-43E4-8F07-B0EE8FB47D0D}">
      <dgm:prSet/>
      <dgm:spPr/>
      <dgm:t>
        <a:bodyPr/>
        <a:lstStyle/>
        <a:p>
          <a:endParaRPr lang="en-US"/>
        </a:p>
      </dgm:t>
    </dgm:pt>
    <dgm:pt modelId="{D4B20D50-0A85-4E5B-AC55-2FCF63E016A2}" type="sibTrans" cxnId="{6F29BB10-DE50-43E4-8F07-B0EE8FB47D0D}">
      <dgm:prSet/>
      <dgm:spPr/>
      <dgm:t>
        <a:bodyPr/>
        <a:lstStyle/>
        <a:p>
          <a:pPr>
            <a:lnSpc>
              <a:spcPct val="100000"/>
            </a:lnSpc>
          </a:pPr>
          <a:endParaRPr lang="en-US"/>
        </a:p>
      </dgm:t>
    </dgm:pt>
    <dgm:pt modelId="{185978D3-4613-4EC9-A7A6-AFCD0CB0E51F}">
      <dgm:prSet/>
      <dgm:spPr/>
      <dgm:t>
        <a:bodyPr/>
        <a:lstStyle/>
        <a:p>
          <a:pPr>
            <a:lnSpc>
              <a:spcPct val="100000"/>
            </a:lnSpc>
          </a:pPr>
          <a:r>
            <a:rPr lang="en-US" b="0" i="0" baseline="0"/>
            <a:t>Pruning helps but is expensive to tune </a:t>
          </a:r>
          <a:endParaRPr lang="en-US"/>
        </a:p>
      </dgm:t>
    </dgm:pt>
    <dgm:pt modelId="{24C3EE53-4FD1-4592-B6D9-12CAB25E2711}" type="parTrans" cxnId="{CE62A5E1-2F22-4FE6-9409-8BAF3B6934EA}">
      <dgm:prSet/>
      <dgm:spPr/>
      <dgm:t>
        <a:bodyPr/>
        <a:lstStyle/>
        <a:p>
          <a:endParaRPr lang="en-US"/>
        </a:p>
      </dgm:t>
    </dgm:pt>
    <dgm:pt modelId="{440B0B1B-0FC9-454D-A474-252355F77F4A}" type="sibTrans" cxnId="{CE62A5E1-2F22-4FE6-9409-8BAF3B6934EA}">
      <dgm:prSet/>
      <dgm:spPr/>
      <dgm:t>
        <a:bodyPr/>
        <a:lstStyle/>
        <a:p>
          <a:endParaRPr lang="en-US"/>
        </a:p>
      </dgm:t>
    </dgm:pt>
    <dgm:pt modelId="{92410CDA-42D4-423E-9DCB-16986AC0FB6B}" type="pres">
      <dgm:prSet presAssocID="{12175580-07D7-48F0-9073-A431D5C64D61}" presName="root" presStyleCnt="0">
        <dgm:presLayoutVars>
          <dgm:dir/>
          <dgm:resizeHandles val="exact"/>
        </dgm:presLayoutVars>
      </dgm:prSet>
      <dgm:spPr/>
    </dgm:pt>
    <dgm:pt modelId="{FEC9D85A-4C5F-459E-8F81-DC8C2E2B1AB4}" type="pres">
      <dgm:prSet presAssocID="{12175580-07D7-48F0-9073-A431D5C64D61}" presName="container" presStyleCnt="0">
        <dgm:presLayoutVars>
          <dgm:dir/>
          <dgm:resizeHandles val="exact"/>
        </dgm:presLayoutVars>
      </dgm:prSet>
      <dgm:spPr/>
    </dgm:pt>
    <dgm:pt modelId="{C06B6E28-88CF-48BA-8466-4FB17326115C}" type="pres">
      <dgm:prSet presAssocID="{798E9876-1BC4-4BB1-BBE6-9BEB5BA191C3}" presName="compNode" presStyleCnt="0"/>
      <dgm:spPr/>
    </dgm:pt>
    <dgm:pt modelId="{273A2C8A-8677-44AF-A060-B05014F48577}" type="pres">
      <dgm:prSet presAssocID="{798E9876-1BC4-4BB1-BBE6-9BEB5BA191C3}" presName="iconBgRect" presStyleLbl="bgShp" presStyleIdx="0" presStyleCnt="3"/>
      <dgm:spPr/>
    </dgm:pt>
    <dgm:pt modelId="{F89A956C-BDFD-4B4E-ABCB-5C4B66A024E3}" type="pres">
      <dgm:prSet presAssocID="{798E9876-1BC4-4BB1-BBE6-9BEB5BA191C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Atom"/>
        </a:ext>
      </dgm:extLst>
    </dgm:pt>
    <dgm:pt modelId="{F7E4D96A-3AD8-43AC-9B98-25A62BF2F10D}" type="pres">
      <dgm:prSet presAssocID="{798E9876-1BC4-4BB1-BBE6-9BEB5BA191C3}" presName="spaceRect" presStyleCnt="0"/>
      <dgm:spPr/>
    </dgm:pt>
    <dgm:pt modelId="{2C24AD13-6FE5-4532-AC40-0E4B20C121FF}" type="pres">
      <dgm:prSet presAssocID="{798E9876-1BC4-4BB1-BBE6-9BEB5BA191C3}" presName="textRect" presStyleLbl="revTx" presStyleIdx="0" presStyleCnt="3">
        <dgm:presLayoutVars>
          <dgm:chMax val="1"/>
          <dgm:chPref val="1"/>
        </dgm:presLayoutVars>
      </dgm:prSet>
      <dgm:spPr/>
    </dgm:pt>
    <dgm:pt modelId="{F81B581F-CACB-4046-BAF3-829A7A56F1A5}" type="pres">
      <dgm:prSet presAssocID="{106C0DB6-BC4F-4AF0-A65A-BE9B08F86E34}" presName="sibTrans" presStyleLbl="sibTrans2D1" presStyleIdx="0" presStyleCnt="0"/>
      <dgm:spPr/>
    </dgm:pt>
    <dgm:pt modelId="{4A1CF2A1-7825-421C-944F-80911FA1E4E3}" type="pres">
      <dgm:prSet presAssocID="{3D4D1728-51D3-44F6-ABFA-9C65BE83C22B}" presName="compNode" presStyleCnt="0"/>
      <dgm:spPr/>
    </dgm:pt>
    <dgm:pt modelId="{42E6EC47-0E32-44E2-AA23-09D78047317A}" type="pres">
      <dgm:prSet presAssocID="{3D4D1728-51D3-44F6-ABFA-9C65BE83C22B}" presName="iconBgRect" presStyleLbl="bgShp" presStyleIdx="1" presStyleCnt="3"/>
      <dgm:spPr/>
    </dgm:pt>
    <dgm:pt modelId="{9E6ED690-1405-404E-A92C-19C29642BDFF}" type="pres">
      <dgm:prSet presAssocID="{3D4D1728-51D3-44F6-ABFA-9C65BE83C22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auge"/>
        </a:ext>
      </dgm:extLst>
    </dgm:pt>
    <dgm:pt modelId="{E8165E2C-33B9-4701-968F-7741448D2053}" type="pres">
      <dgm:prSet presAssocID="{3D4D1728-51D3-44F6-ABFA-9C65BE83C22B}" presName="spaceRect" presStyleCnt="0"/>
      <dgm:spPr/>
    </dgm:pt>
    <dgm:pt modelId="{F68D2958-48C0-4213-B89C-F3E3333F592D}" type="pres">
      <dgm:prSet presAssocID="{3D4D1728-51D3-44F6-ABFA-9C65BE83C22B}" presName="textRect" presStyleLbl="revTx" presStyleIdx="1" presStyleCnt="3">
        <dgm:presLayoutVars>
          <dgm:chMax val="1"/>
          <dgm:chPref val="1"/>
        </dgm:presLayoutVars>
      </dgm:prSet>
      <dgm:spPr/>
    </dgm:pt>
    <dgm:pt modelId="{7D4440C4-2AE5-4F30-B010-C2D2C4533FA6}" type="pres">
      <dgm:prSet presAssocID="{D4B20D50-0A85-4E5B-AC55-2FCF63E016A2}" presName="sibTrans" presStyleLbl="sibTrans2D1" presStyleIdx="0" presStyleCnt="0"/>
      <dgm:spPr/>
    </dgm:pt>
    <dgm:pt modelId="{7C979A36-78BB-49B0-9446-B7A13C9803BB}" type="pres">
      <dgm:prSet presAssocID="{185978D3-4613-4EC9-A7A6-AFCD0CB0E51F}" presName="compNode" presStyleCnt="0"/>
      <dgm:spPr/>
    </dgm:pt>
    <dgm:pt modelId="{77234A8A-903B-4713-8284-54D8D23BE696}" type="pres">
      <dgm:prSet presAssocID="{185978D3-4613-4EC9-A7A6-AFCD0CB0E51F}" presName="iconBgRect" presStyleLbl="bgShp" presStyleIdx="2" presStyleCnt="3"/>
      <dgm:spPr/>
    </dgm:pt>
    <dgm:pt modelId="{888715FD-0DA4-4FB9-B9B0-DF25A558927B}" type="pres">
      <dgm:prSet presAssocID="{185978D3-4613-4EC9-A7A6-AFCD0CB0E51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iggy Bank"/>
        </a:ext>
      </dgm:extLst>
    </dgm:pt>
    <dgm:pt modelId="{3B2EE096-0957-4F1E-B384-CFCC8B31CF40}" type="pres">
      <dgm:prSet presAssocID="{185978D3-4613-4EC9-A7A6-AFCD0CB0E51F}" presName="spaceRect" presStyleCnt="0"/>
      <dgm:spPr/>
    </dgm:pt>
    <dgm:pt modelId="{0D9D41C6-26BE-42FB-87B5-D64D96F240E7}" type="pres">
      <dgm:prSet presAssocID="{185978D3-4613-4EC9-A7A6-AFCD0CB0E51F}" presName="textRect" presStyleLbl="revTx" presStyleIdx="2" presStyleCnt="3">
        <dgm:presLayoutVars>
          <dgm:chMax val="1"/>
          <dgm:chPref val="1"/>
        </dgm:presLayoutVars>
      </dgm:prSet>
      <dgm:spPr/>
    </dgm:pt>
  </dgm:ptLst>
  <dgm:cxnLst>
    <dgm:cxn modelId="{BF435C10-C280-4287-A48C-66D753424BE4}" type="presOf" srcId="{798E9876-1BC4-4BB1-BBE6-9BEB5BA191C3}" destId="{2C24AD13-6FE5-4532-AC40-0E4B20C121FF}" srcOrd="0" destOrd="0" presId="urn:microsoft.com/office/officeart/2018/2/layout/IconCircleList"/>
    <dgm:cxn modelId="{6F29BB10-DE50-43E4-8F07-B0EE8FB47D0D}" srcId="{12175580-07D7-48F0-9073-A431D5C64D61}" destId="{3D4D1728-51D3-44F6-ABFA-9C65BE83C22B}" srcOrd="1" destOrd="0" parTransId="{90A8003E-1A32-48C3-AA13-A949219DAB86}" sibTransId="{D4B20D50-0A85-4E5B-AC55-2FCF63E016A2}"/>
    <dgm:cxn modelId="{A9675412-342D-45AF-BF5A-E6276DC1270C}" type="presOf" srcId="{3D4D1728-51D3-44F6-ABFA-9C65BE83C22B}" destId="{F68D2958-48C0-4213-B89C-F3E3333F592D}" srcOrd="0" destOrd="0" presId="urn:microsoft.com/office/officeart/2018/2/layout/IconCircleList"/>
    <dgm:cxn modelId="{7684C519-6A08-4CE8-995B-B5A54011CA68}" type="presOf" srcId="{D4B20D50-0A85-4E5B-AC55-2FCF63E016A2}" destId="{7D4440C4-2AE5-4F30-B010-C2D2C4533FA6}" srcOrd="0" destOrd="0" presId="urn:microsoft.com/office/officeart/2018/2/layout/IconCircleList"/>
    <dgm:cxn modelId="{07550E20-65FD-40EF-BCE7-4DD9EDC1E490}" type="presOf" srcId="{185978D3-4613-4EC9-A7A6-AFCD0CB0E51F}" destId="{0D9D41C6-26BE-42FB-87B5-D64D96F240E7}" srcOrd="0" destOrd="0" presId="urn:microsoft.com/office/officeart/2018/2/layout/IconCircleList"/>
    <dgm:cxn modelId="{848A0730-705C-485A-9271-9D42D955A644}" srcId="{12175580-07D7-48F0-9073-A431D5C64D61}" destId="{798E9876-1BC4-4BB1-BBE6-9BEB5BA191C3}" srcOrd="0" destOrd="0" parTransId="{50AB958A-646D-46E9-92F6-0733AD6D9813}" sibTransId="{106C0DB6-BC4F-4AF0-A65A-BE9B08F86E34}"/>
    <dgm:cxn modelId="{45E437DF-88F3-4B54-8518-ABC5B5392D9B}" type="presOf" srcId="{106C0DB6-BC4F-4AF0-A65A-BE9B08F86E34}" destId="{F81B581F-CACB-4046-BAF3-829A7A56F1A5}" srcOrd="0" destOrd="0" presId="urn:microsoft.com/office/officeart/2018/2/layout/IconCircleList"/>
    <dgm:cxn modelId="{CE62A5E1-2F22-4FE6-9409-8BAF3B6934EA}" srcId="{12175580-07D7-48F0-9073-A431D5C64D61}" destId="{185978D3-4613-4EC9-A7A6-AFCD0CB0E51F}" srcOrd="2" destOrd="0" parTransId="{24C3EE53-4FD1-4592-B6D9-12CAB25E2711}" sibTransId="{440B0B1B-0FC9-454D-A474-252355F77F4A}"/>
    <dgm:cxn modelId="{BEB489EB-ABE1-44F5-8EED-E219522A19C1}" type="presOf" srcId="{12175580-07D7-48F0-9073-A431D5C64D61}" destId="{92410CDA-42D4-423E-9DCB-16986AC0FB6B}" srcOrd="0" destOrd="0" presId="urn:microsoft.com/office/officeart/2018/2/layout/IconCircleList"/>
    <dgm:cxn modelId="{E96A0169-9C5B-4F89-81D2-CE4A8EAC1880}" type="presParOf" srcId="{92410CDA-42D4-423E-9DCB-16986AC0FB6B}" destId="{FEC9D85A-4C5F-459E-8F81-DC8C2E2B1AB4}" srcOrd="0" destOrd="0" presId="urn:microsoft.com/office/officeart/2018/2/layout/IconCircleList"/>
    <dgm:cxn modelId="{4E7C1FA9-FFF8-4626-90E2-4216C16A7767}" type="presParOf" srcId="{FEC9D85A-4C5F-459E-8F81-DC8C2E2B1AB4}" destId="{C06B6E28-88CF-48BA-8466-4FB17326115C}" srcOrd="0" destOrd="0" presId="urn:microsoft.com/office/officeart/2018/2/layout/IconCircleList"/>
    <dgm:cxn modelId="{27B7CB3D-A4CA-4804-98C7-25DF1EB46D28}" type="presParOf" srcId="{C06B6E28-88CF-48BA-8466-4FB17326115C}" destId="{273A2C8A-8677-44AF-A060-B05014F48577}" srcOrd="0" destOrd="0" presId="urn:microsoft.com/office/officeart/2018/2/layout/IconCircleList"/>
    <dgm:cxn modelId="{92455242-ACBE-468A-8459-A03643505350}" type="presParOf" srcId="{C06B6E28-88CF-48BA-8466-4FB17326115C}" destId="{F89A956C-BDFD-4B4E-ABCB-5C4B66A024E3}" srcOrd="1" destOrd="0" presId="urn:microsoft.com/office/officeart/2018/2/layout/IconCircleList"/>
    <dgm:cxn modelId="{0145DFF1-E5EB-4595-9451-0E5A84230571}" type="presParOf" srcId="{C06B6E28-88CF-48BA-8466-4FB17326115C}" destId="{F7E4D96A-3AD8-43AC-9B98-25A62BF2F10D}" srcOrd="2" destOrd="0" presId="urn:microsoft.com/office/officeart/2018/2/layout/IconCircleList"/>
    <dgm:cxn modelId="{1B78AE1F-F051-49C8-A75D-C25C670DF82B}" type="presParOf" srcId="{C06B6E28-88CF-48BA-8466-4FB17326115C}" destId="{2C24AD13-6FE5-4532-AC40-0E4B20C121FF}" srcOrd="3" destOrd="0" presId="urn:microsoft.com/office/officeart/2018/2/layout/IconCircleList"/>
    <dgm:cxn modelId="{F89BDC57-D22E-4FA4-B5B9-B00BB8C37F7C}" type="presParOf" srcId="{FEC9D85A-4C5F-459E-8F81-DC8C2E2B1AB4}" destId="{F81B581F-CACB-4046-BAF3-829A7A56F1A5}" srcOrd="1" destOrd="0" presId="urn:microsoft.com/office/officeart/2018/2/layout/IconCircleList"/>
    <dgm:cxn modelId="{EF8E6853-E1C8-4862-90F7-4A93BA948CB7}" type="presParOf" srcId="{FEC9D85A-4C5F-459E-8F81-DC8C2E2B1AB4}" destId="{4A1CF2A1-7825-421C-944F-80911FA1E4E3}" srcOrd="2" destOrd="0" presId="urn:microsoft.com/office/officeart/2018/2/layout/IconCircleList"/>
    <dgm:cxn modelId="{EFE5981D-1C32-4F30-993E-91C88E901A31}" type="presParOf" srcId="{4A1CF2A1-7825-421C-944F-80911FA1E4E3}" destId="{42E6EC47-0E32-44E2-AA23-09D78047317A}" srcOrd="0" destOrd="0" presId="urn:microsoft.com/office/officeart/2018/2/layout/IconCircleList"/>
    <dgm:cxn modelId="{7C1A368C-6812-47BF-92E8-73A069BB1D72}" type="presParOf" srcId="{4A1CF2A1-7825-421C-944F-80911FA1E4E3}" destId="{9E6ED690-1405-404E-A92C-19C29642BDFF}" srcOrd="1" destOrd="0" presId="urn:microsoft.com/office/officeart/2018/2/layout/IconCircleList"/>
    <dgm:cxn modelId="{CBE2BE73-8A79-431C-9EBF-11F34531E555}" type="presParOf" srcId="{4A1CF2A1-7825-421C-944F-80911FA1E4E3}" destId="{E8165E2C-33B9-4701-968F-7741448D2053}" srcOrd="2" destOrd="0" presId="urn:microsoft.com/office/officeart/2018/2/layout/IconCircleList"/>
    <dgm:cxn modelId="{C67A541C-19F7-4035-A352-B520A9C8CCD4}" type="presParOf" srcId="{4A1CF2A1-7825-421C-944F-80911FA1E4E3}" destId="{F68D2958-48C0-4213-B89C-F3E3333F592D}" srcOrd="3" destOrd="0" presId="urn:microsoft.com/office/officeart/2018/2/layout/IconCircleList"/>
    <dgm:cxn modelId="{15D854DC-E252-4D43-B4AC-57E0A26A57E5}" type="presParOf" srcId="{FEC9D85A-4C5F-459E-8F81-DC8C2E2B1AB4}" destId="{7D4440C4-2AE5-4F30-B010-C2D2C4533FA6}" srcOrd="3" destOrd="0" presId="urn:microsoft.com/office/officeart/2018/2/layout/IconCircleList"/>
    <dgm:cxn modelId="{4069AA90-63A0-4F59-95F8-60F602188827}" type="presParOf" srcId="{FEC9D85A-4C5F-459E-8F81-DC8C2E2B1AB4}" destId="{7C979A36-78BB-49B0-9446-B7A13C9803BB}" srcOrd="4" destOrd="0" presId="urn:microsoft.com/office/officeart/2018/2/layout/IconCircleList"/>
    <dgm:cxn modelId="{C32B677A-992E-4CEF-A618-D08A3989781B}" type="presParOf" srcId="{7C979A36-78BB-49B0-9446-B7A13C9803BB}" destId="{77234A8A-903B-4713-8284-54D8D23BE696}" srcOrd="0" destOrd="0" presId="urn:microsoft.com/office/officeart/2018/2/layout/IconCircleList"/>
    <dgm:cxn modelId="{8CA86F1B-C7C7-48F0-A210-9D4641B26095}" type="presParOf" srcId="{7C979A36-78BB-49B0-9446-B7A13C9803BB}" destId="{888715FD-0DA4-4FB9-B9B0-DF25A558927B}" srcOrd="1" destOrd="0" presId="urn:microsoft.com/office/officeart/2018/2/layout/IconCircleList"/>
    <dgm:cxn modelId="{64982FC4-F0DB-407F-9796-6800CD4E2854}" type="presParOf" srcId="{7C979A36-78BB-49B0-9446-B7A13C9803BB}" destId="{3B2EE096-0957-4F1E-B384-CFCC8B31CF40}" srcOrd="2" destOrd="0" presId="urn:microsoft.com/office/officeart/2018/2/layout/IconCircleList"/>
    <dgm:cxn modelId="{A0E58167-B4DC-4C73-B35E-3CA332E79900}" type="presParOf" srcId="{7C979A36-78BB-49B0-9446-B7A13C9803BB}" destId="{0D9D41C6-26BE-42FB-87B5-D64D96F240E7}"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D8534AB-7059-409C-9130-F565CEBA4B28}"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D737056F-1125-4151-A3B0-2BABF90F37CF}">
      <dgm:prSet/>
      <dgm:spPr/>
      <dgm:t>
        <a:bodyPr/>
        <a:lstStyle/>
        <a:p>
          <a:r>
            <a:rPr lang="en-US" b="0" i="0" baseline="0"/>
            <a:t>Bayesian surrogate model </a:t>
          </a:r>
          <a:endParaRPr lang="en-US"/>
        </a:p>
      </dgm:t>
    </dgm:pt>
    <dgm:pt modelId="{6A7EFCB2-D760-4C48-9E0D-8EDF82438842}" type="parTrans" cxnId="{B98C0028-8812-4C29-B7C7-E4EA88CFE94A}">
      <dgm:prSet/>
      <dgm:spPr/>
      <dgm:t>
        <a:bodyPr/>
        <a:lstStyle/>
        <a:p>
          <a:endParaRPr lang="en-US"/>
        </a:p>
      </dgm:t>
    </dgm:pt>
    <dgm:pt modelId="{4B8465F4-B420-4712-B49B-1639CC23EAAC}" type="sibTrans" cxnId="{B98C0028-8812-4C29-B7C7-E4EA88CFE94A}">
      <dgm:prSet/>
      <dgm:spPr/>
      <dgm:t>
        <a:bodyPr/>
        <a:lstStyle/>
        <a:p>
          <a:endParaRPr lang="en-US"/>
        </a:p>
      </dgm:t>
    </dgm:pt>
    <dgm:pt modelId="{56F39A90-4AD1-4972-A261-B02E260E1FB0}">
      <dgm:prSet/>
      <dgm:spPr/>
      <dgm:t>
        <a:bodyPr/>
        <a:lstStyle/>
        <a:p>
          <a:r>
            <a:rPr lang="en-US" b="0" i="0" baseline="0"/>
            <a:t>Predicts pruning outcomes </a:t>
          </a:r>
          <a:endParaRPr lang="en-US"/>
        </a:p>
      </dgm:t>
    </dgm:pt>
    <dgm:pt modelId="{793682A4-0339-495B-81B9-D025BB7EEBE7}" type="parTrans" cxnId="{A87BDBAF-DB1D-4B57-91D5-708ED00B9C8A}">
      <dgm:prSet/>
      <dgm:spPr/>
      <dgm:t>
        <a:bodyPr/>
        <a:lstStyle/>
        <a:p>
          <a:endParaRPr lang="en-US"/>
        </a:p>
      </dgm:t>
    </dgm:pt>
    <dgm:pt modelId="{ECB5821E-FD55-4AFA-8932-D62B960D0D3A}" type="sibTrans" cxnId="{A87BDBAF-DB1D-4B57-91D5-708ED00B9C8A}">
      <dgm:prSet/>
      <dgm:spPr/>
      <dgm:t>
        <a:bodyPr/>
        <a:lstStyle/>
        <a:p>
          <a:endParaRPr lang="en-US"/>
        </a:p>
      </dgm:t>
    </dgm:pt>
    <dgm:pt modelId="{E0C6B29B-5E91-4833-A204-AA69BEFF0F49}">
      <dgm:prSet/>
      <dgm:spPr/>
      <dgm:t>
        <a:bodyPr/>
        <a:lstStyle/>
        <a:p>
          <a:r>
            <a:rPr lang="en-US" b="0" i="0" baseline="0"/>
            <a:t>Reduces experiments </a:t>
          </a:r>
          <a:endParaRPr lang="en-US"/>
        </a:p>
      </dgm:t>
    </dgm:pt>
    <dgm:pt modelId="{04F41C4E-2F55-4011-9F25-D237681348FE}" type="parTrans" cxnId="{4C1D0651-6348-4704-82E9-0CA11F68861C}">
      <dgm:prSet/>
      <dgm:spPr/>
      <dgm:t>
        <a:bodyPr/>
        <a:lstStyle/>
        <a:p>
          <a:endParaRPr lang="en-US"/>
        </a:p>
      </dgm:t>
    </dgm:pt>
    <dgm:pt modelId="{59E33F5A-251E-401A-846F-803EF7C2683F}" type="sibTrans" cxnId="{4C1D0651-6348-4704-82E9-0CA11F68861C}">
      <dgm:prSet/>
      <dgm:spPr/>
      <dgm:t>
        <a:bodyPr/>
        <a:lstStyle/>
        <a:p>
          <a:endParaRPr lang="en-US"/>
        </a:p>
      </dgm:t>
    </dgm:pt>
    <dgm:pt modelId="{15C2C5C0-C6C8-4CCC-9971-831C6F22A5C7}">
      <dgm:prSet/>
      <dgm:spPr/>
      <dgm:t>
        <a:bodyPr/>
        <a:lstStyle/>
        <a:p>
          <a:r>
            <a:rPr lang="en-US" b="0" i="0" baseline="0"/>
            <a:t>Integrated in dashboard </a:t>
          </a:r>
          <a:endParaRPr lang="en-US"/>
        </a:p>
      </dgm:t>
    </dgm:pt>
    <dgm:pt modelId="{C78FCA33-A798-453F-9E51-51909EB05265}" type="parTrans" cxnId="{89E0BC05-C9B9-468B-B03B-5F6D4555549C}">
      <dgm:prSet/>
      <dgm:spPr/>
      <dgm:t>
        <a:bodyPr/>
        <a:lstStyle/>
        <a:p>
          <a:endParaRPr lang="en-US"/>
        </a:p>
      </dgm:t>
    </dgm:pt>
    <dgm:pt modelId="{842F6378-B7F4-4327-9193-EACF5F0C8AA8}" type="sibTrans" cxnId="{89E0BC05-C9B9-468B-B03B-5F6D4555549C}">
      <dgm:prSet/>
      <dgm:spPr/>
      <dgm:t>
        <a:bodyPr/>
        <a:lstStyle/>
        <a:p>
          <a:endParaRPr lang="en-US"/>
        </a:p>
      </dgm:t>
    </dgm:pt>
    <dgm:pt modelId="{E1F6D98C-A3C3-4C45-9AFD-CE13D964AD0E}" type="pres">
      <dgm:prSet presAssocID="{ED8534AB-7059-409C-9130-F565CEBA4B28}" presName="root" presStyleCnt="0">
        <dgm:presLayoutVars>
          <dgm:dir/>
          <dgm:resizeHandles val="exact"/>
        </dgm:presLayoutVars>
      </dgm:prSet>
      <dgm:spPr/>
    </dgm:pt>
    <dgm:pt modelId="{D65A1070-59BB-4A3F-80FC-48533679822F}" type="pres">
      <dgm:prSet presAssocID="{D737056F-1125-4151-A3B0-2BABF90F37CF}" presName="compNode" presStyleCnt="0"/>
      <dgm:spPr/>
    </dgm:pt>
    <dgm:pt modelId="{6C9E07E2-0BFD-4C00-B956-2FE166A50F5D}" type="pres">
      <dgm:prSet presAssocID="{D737056F-1125-4151-A3B0-2BABF90F37C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D22150EB-1FAE-4289-8AC5-BB4B5551D798}" type="pres">
      <dgm:prSet presAssocID="{D737056F-1125-4151-A3B0-2BABF90F37CF}" presName="spaceRect" presStyleCnt="0"/>
      <dgm:spPr/>
    </dgm:pt>
    <dgm:pt modelId="{FC0F669B-5C5C-4D6A-9FB1-49F1F4AC4405}" type="pres">
      <dgm:prSet presAssocID="{D737056F-1125-4151-A3B0-2BABF90F37CF}" presName="textRect" presStyleLbl="revTx" presStyleIdx="0" presStyleCnt="4">
        <dgm:presLayoutVars>
          <dgm:chMax val="1"/>
          <dgm:chPref val="1"/>
        </dgm:presLayoutVars>
      </dgm:prSet>
      <dgm:spPr/>
    </dgm:pt>
    <dgm:pt modelId="{0994D499-B71B-4414-96A7-81255BC26CB9}" type="pres">
      <dgm:prSet presAssocID="{4B8465F4-B420-4712-B49B-1639CC23EAAC}" presName="sibTrans" presStyleCnt="0"/>
      <dgm:spPr/>
    </dgm:pt>
    <dgm:pt modelId="{887A507B-1D3F-4E3C-8AC3-7C1F8235A01C}" type="pres">
      <dgm:prSet presAssocID="{56F39A90-4AD1-4972-A261-B02E260E1FB0}" presName="compNode" presStyleCnt="0"/>
      <dgm:spPr/>
    </dgm:pt>
    <dgm:pt modelId="{00F0D425-13A7-445A-BC04-32FB4BF39948}" type="pres">
      <dgm:prSet presAssocID="{56F39A90-4AD1-4972-A261-B02E260E1FB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3015C6ED-C9F2-4D73-8DC0-0D8CCA8D6342}" type="pres">
      <dgm:prSet presAssocID="{56F39A90-4AD1-4972-A261-B02E260E1FB0}" presName="spaceRect" presStyleCnt="0"/>
      <dgm:spPr/>
    </dgm:pt>
    <dgm:pt modelId="{3E9EE915-5209-4890-87D7-A30753AA732F}" type="pres">
      <dgm:prSet presAssocID="{56F39A90-4AD1-4972-A261-B02E260E1FB0}" presName="textRect" presStyleLbl="revTx" presStyleIdx="1" presStyleCnt="4">
        <dgm:presLayoutVars>
          <dgm:chMax val="1"/>
          <dgm:chPref val="1"/>
        </dgm:presLayoutVars>
      </dgm:prSet>
      <dgm:spPr/>
    </dgm:pt>
    <dgm:pt modelId="{DE246617-EAE6-4C75-A4DC-503B9F8D0629}" type="pres">
      <dgm:prSet presAssocID="{ECB5821E-FD55-4AFA-8932-D62B960D0D3A}" presName="sibTrans" presStyleCnt="0"/>
      <dgm:spPr/>
    </dgm:pt>
    <dgm:pt modelId="{BBAFB699-29B5-4697-B8B5-60BCB2F6B533}" type="pres">
      <dgm:prSet presAssocID="{E0C6B29B-5E91-4833-A204-AA69BEFF0F49}" presName="compNode" presStyleCnt="0"/>
      <dgm:spPr/>
    </dgm:pt>
    <dgm:pt modelId="{E898EDB2-DE88-4250-B03D-10850F631BC3}" type="pres">
      <dgm:prSet presAssocID="{E0C6B29B-5E91-4833-A204-AA69BEFF0F4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ask"/>
        </a:ext>
      </dgm:extLst>
    </dgm:pt>
    <dgm:pt modelId="{750287EE-D51B-48E6-913E-9A8FDF67927A}" type="pres">
      <dgm:prSet presAssocID="{E0C6B29B-5E91-4833-A204-AA69BEFF0F49}" presName="spaceRect" presStyleCnt="0"/>
      <dgm:spPr/>
    </dgm:pt>
    <dgm:pt modelId="{6E80384E-B616-4B33-84D0-888FA1688250}" type="pres">
      <dgm:prSet presAssocID="{E0C6B29B-5E91-4833-A204-AA69BEFF0F49}" presName="textRect" presStyleLbl="revTx" presStyleIdx="2" presStyleCnt="4">
        <dgm:presLayoutVars>
          <dgm:chMax val="1"/>
          <dgm:chPref val="1"/>
        </dgm:presLayoutVars>
      </dgm:prSet>
      <dgm:spPr/>
    </dgm:pt>
    <dgm:pt modelId="{0C87D5F9-9B8F-4145-9E5F-BF1A38C65A57}" type="pres">
      <dgm:prSet presAssocID="{59E33F5A-251E-401A-846F-803EF7C2683F}" presName="sibTrans" presStyleCnt="0"/>
      <dgm:spPr/>
    </dgm:pt>
    <dgm:pt modelId="{7E8B64D4-FCB7-40FB-B64F-E115420AD2B9}" type="pres">
      <dgm:prSet presAssocID="{15C2C5C0-C6C8-4CCC-9971-831C6F22A5C7}" presName="compNode" presStyleCnt="0"/>
      <dgm:spPr/>
    </dgm:pt>
    <dgm:pt modelId="{484622C7-FF9D-46B3-B53D-B60843F04FCE}" type="pres">
      <dgm:prSet presAssocID="{15C2C5C0-C6C8-4CCC-9971-831C6F22A5C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r chart"/>
        </a:ext>
      </dgm:extLst>
    </dgm:pt>
    <dgm:pt modelId="{CDF348A5-27E2-433C-A59B-344FC1C5464E}" type="pres">
      <dgm:prSet presAssocID="{15C2C5C0-C6C8-4CCC-9971-831C6F22A5C7}" presName="spaceRect" presStyleCnt="0"/>
      <dgm:spPr/>
    </dgm:pt>
    <dgm:pt modelId="{F2A460DF-0229-4067-879D-B4D7DFE08696}" type="pres">
      <dgm:prSet presAssocID="{15C2C5C0-C6C8-4CCC-9971-831C6F22A5C7}" presName="textRect" presStyleLbl="revTx" presStyleIdx="3" presStyleCnt="4">
        <dgm:presLayoutVars>
          <dgm:chMax val="1"/>
          <dgm:chPref val="1"/>
        </dgm:presLayoutVars>
      </dgm:prSet>
      <dgm:spPr/>
    </dgm:pt>
  </dgm:ptLst>
  <dgm:cxnLst>
    <dgm:cxn modelId="{89E0BC05-C9B9-468B-B03B-5F6D4555549C}" srcId="{ED8534AB-7059-409C-9130-F565CEBA4B28}" destId="{15C2C5C0-C6C8-4CCC-9971-831C6F22A5C7}" srcOrd="3" destOrd="0" parTransId="{C78FCA33-A798-453F-9E51-51909EB05265}" sibTransId="{842F6378-B7F4-4327-9193-EACF5F0C8AA8}"/>
    <dgm:cxn modelId="{45737315-5D8B-4507-B60F-EE640CEE6490}" type="presOf" srcId="{ED8534AB-7059-409C-9130-F565CEBA4B28}" destId="{E1F6D98C-A3C3-4C45-9AFD-CE13D964AD0E}" srcOrd="0" destOrd="0" presId="urn:microsoft.com/office/officeart/2018/2/layout/IconLabelList"/>
    <dgm:cxn modelId="{B98C0028-8812-4C29-B7C7-E4EA88CFE94A}" srcId="{ED8534AB-7059-409C-9130-F565CEBA4B28}" destId="{D737056F-1125-4151-A3B0-2BABF90F37CF}" srcOrd="0" destOrd="0" parTransId="{6A7EFCB2-D760-4C48-9E0D-8EDF82438842}" sibTransId="{4B8465F4-B420-4712-B49B-1639CC23EAAC}"/>
    <dgm:cxn modelId="{91056831-6C5D-484D-9B0A-C2B4B11A4B1F}" type="presOf" srcId="{E0C6B29B-5E91-4833-A204-AA69BEFF0F49}" destId="{6E80384E-B616-4B33-84D0-888FA1688250}" srcOrd="0" destOrd="0" presId="urn:microsoft.com/office/officeart/2018/2/layout/IconLabelList"/>
    <dgm:cxn modelId="{4C1D0651-6348-4704-82E9-0CA11F68861C}" srcId="{ED8534AB-7059-409C-9130-F565CEBA4B28}" destId="{E0C6B29B-5E91-4833-A204-AA69BEFF0F49}" srcOrd="2" destOrd="0" parTransId="{04F41C4E-2F55-4011-9F25-D237681348FE}" sibTransId="{59E33F5A-251E-401A-846F-803EF7C2683F}"/>
    <dgm:cxn modelId="{02F93E7F-53CF-420F-9E3E-00C26FED6F60}" type="presOf" srcId="{15C2C5C0-C6C8-4CCC-9971-831C6F22A5C7}" destId="{F2A460DF-0229-4067-879D-B4D7DFE08696}" srcOrd="0" destOrd="0" presId="urn:microsoft.com/office/officeart/2018/2/layout/IconLabelList"/>
    <dgm:cxn modelId="{A87BDBAF-DB1D-4B57-91D5-708ED00B9C8A}" srcId="{ED8534AB-7059-409C-9130-F565CEBA4B28}" destId="{56F39A90-4AD1-4972-A261-B02E260E1FB0}" srcOrd="1" destOrd="0" parTransId="{793682A4-0339-495B-81B9-D025BB7EEBE7}" sibTransId="{ECB5821E-FD55-4AFA-8932-D62B960D0D3A}"/>
    <dgm:cxn modelId="{3CD5BFB9-F093-483D-BE09-33BC7C8A5B34}" type="presOf" srcId="{D737056F-1125-4151-A3B0-2BABF90F37CF}" destId="{FC0F669B-5C5C-4D6A-9FB1-49F1F4AC4405}" srcOrd="0" destOrd="0" presId="urn:microsoft.com/office/officeart/2018/2/layout/IconLabelList"/>
    <dgm:cxn modelId="{F51453D2-F341-4004-8542-54D362A5DE2E}" type="presOf" srcId="{56F39A90-4AD1-4972-A261-B02E260E1FB0}" destId="{3E9EE915-5209-4890-87D7-A30753AA732F}" srcOrd="0" destOrd="0" presId="urn:microsoft.com/office/officeart/2018/2/layout/IconLabelList"/>
    <dgm:cxn modelId="{20512547-FCF3-4A59-9032-803F43D68514}" type="presParOf" srcId="{E1F6D98C-A3C3-4C45-9AFD-CE13D964AD0E}" destId="{D65A1070-59BB-4A3F-80FC-48533679822F}" srcOrd="0" destOrd="0" presId="urn:microsoft.com/office/officeart/2018/2/layout/IconLabelList"/>
    <dgm:cxn modelId="{BF1C9D69-DE9E-40AF-B327-02775902F052}" type="presParOf" srcId="{D65A1070-59BB-4A3F-80FC-48533679822F}" destId="{6C9E07E2-0BFD-4C00-B956-2FE166A50F5D}" srcOrd="0" destOrd="0" presId="urn:microsoft.com/office/officeart/2018/2/layout/IconLabelList"/>
    <dgm:cxn modelId="{801888C9-A1E1-43D3-A800-C0C126BF4BC8}" type="presParOf" srcId="{D65A1070-59BB-4A3F-80FC-48533679822F}" destId="{D22150EB-1FAE-4289-8AC5-BB4B5551D798}" srcOrd="1" destOrd="0" presId="urn:microsoft.com/office/officeart/2018/2/layout/IconLabelList"/>
    <dgm:cxn modelId="{02515C82-5602-4317-AEA1-FE139EF34DD1}" type="presParOf" srcId="{D65A1070-59BB-4A3F-80FC-48533679822F}" destId="{FC0F669B-5C5C-4D6A-9FB1-49F1F4AC4405}" srcOrd="2" destOrd="0" presId="urn:microsoft.com/office/officeart/2018/2/layout/IconLabelList"/>
    <dgm:cxn modelId="{4968A4D7-4E50-4B69-9C96-2472648B0C24}" type="presParOf" srcId="{E1F6D98C-A3C3-4C45-9AFD-CE13D964AD0E}" destId="{0994D499-B71B-4414-96A7-81255BC26CB9}" srcOrd="1" destOrd="0" presId="urn:microsoft.com/office/officeart/2018/2/layout/IconLabelList"/>
    <dgm:cxn modelId="{E2BA402B-041F-411A-929C-16855D9EB9F6}" type="presParOf" srcId="{E1F6D98C-A3C3-4C45-9AFD-CE13D964AD0E}" destId="{887A507B-1D3F-4E3C-8AC3-7C1F8235A01C}" srcOrd="2" destOrd="0" presId="urn:microsoft.com/office/officeart/2018/2/layout/IconLabelList"/>
    <dgm:cxn modelId="{96B1D081-30B6-4E77-9319-36ABCD453811}" type="presParOf" srcId="{887A507B-1D3F-4E3C-8AC3-7C1F8235A01C}" destId="{00F0D425-13A7-445A-BC04-32FB4BF39948}" srcOrd="0" destOrd="0" presId="urn:microsoft.com/office/officeart/2018/2/layout/IconLabelList"/>
    <dgm:cxn modelId="{5701DFCD-F438-4981-BBB3-E9AA95885466}" type="presParOf" srcId="{887A507B-1D3F-4E3C-8AC3-7C1F8235A01C}" destId="{3015C6ED-C9F2-4D73-8DC0-0D8CCA8D6342}" srcOrd="1" destOrd="0" presId="urn:microsoft.com/office/officeart/2018/2/layout/IconLabelList"/>
    <dgm:cxn modelId="{57D29EAC-BC19-4EBA-98EC-1FF71B1CFDC4}" type="presParOf" srcId="{887A507B-1D3F-4E3C-8AC3-7C1F8235A01C}" destId="{3E9EE915-5209-4890-87D7-A30753AA732F}" srcOrd="2" destOrd="0" presId="urn:microsoft.com/office/officeart/2018/2/layout/IconLabelList"/>
    <dgm:cxn modelId="{4BF44A56-86D7-4682-B802-68140C03F043}" type="presParOf" srcId="{E1F6D98C-A3C3-4C45-9AFD-CE13D964AD0E}" destId="{DE246617-EAE6-4C75-A4DC-503B9F8D0629}" srcOrd="3" destOrd="0" presId="urn:microsoft.com/office/officeart/2018/2/layout/IconLabelList"/>
    <dgm:cxn modelId="{CC75576E-9956-411E-A3FA-D89C33B52D84}" type="presParOf" srcId="{E1F6D98C-A3C3-4C45-9AFD-CE13D964AD0E}" destId="{BBAFB699-29B5-4697-B8B5-60BCB2F6B533}" srcOrd="4" destOrd="0" presId="urn:microsoft.com/office/officeart/2018/2/layout/IconLabelList"/>
    <dgm:cxn modelId="{ECA1F9C0-AA96-4D4E-8176-25F7501F0D1F}" type="presParOf" srcId="{BBAFB699-29B5-4697-B8B5-60BCB2F6B533}" destId="{E898EDB2-DE88-4250-B03D-10850F631BC3}" srcOrd="0" destOrd="0" presId="urn:microsoft.com/office/officeart/2018/2/layout/IconLabelList"/>
    <dgm:cxn modelId="{6BDBF1E9-7B3E-49F2-A662-00EA8695CF2B}" type="presParOf" srcId="{BBAFB699-29B5-4697-B8B5-60BCB2F6B533}" destId="{750287EE-D51B-48E6-913E-9A8FDF67927A}" srcOrd="1" destOrd="0" presId="urn:microsoft.com/office/officeart/2018/2/layout/IconLabelList"/>
    <dgm:cxn modelId="{A51BF534-4F30-42CA-8475-1CFB32E7D768}" type="presParOf" srcId="{BBAFB699-29B5-4697-B8B5-60BCB2F6B533}" destId="{6E80384E-B616-4B33-84D0-888FA1688250}" srcOrd="2" destOrd="0" presId="urn:microsoft.com/office/officeart/2018/2/layout/IconLabelList"/>
    <dgm:cxn modelId="{A2A0BE24-2D35-4113-88B2-74031FABD8C8}" type="presParOf" srcId="{E1F6D98C-A3C3-4C45-9AFD-CE13D964AD0E}" destId="{0C87D5F9-9B8F-4145-9E5F-BF1A38C65A57}" srcOrd="5" destOrd="0" presId="urn:microsoft.com/office/officeart/2018/2/layout/IconLabelList"/>
    <dgm:cxn modelId="{6879A08E-8BE5-4C58-A792-49474720BD39}" type="presParOf" srcId="{E1F6D98C-A3C3-4C45-9AFD-CE13D964AD0E}" destId="{7E8B64D4-FCB7-40FB-B64F-E115420AD2B9}" srcOrd="6" destOrd="0" presId="urn:microsoft.com/office/officeart/2018/2/layout/IconLabelList"/>
    <dgm:cxn modelId="{52EEEC56-6A3C-4C49-A902-E970A583C541}" type="presParOf" srcId="{7E8B64D4-FCB7-40FB-B64F-E115420AD2B9}" destId="{484622C7-FF9D-46B3-B53D-B60843F04FCE}" srcOrd="0" destOrd="0" presId="urn:microsoft.com/office/officeart/2018/2/layout/IconLabelList"/>
    <dgm:cxn modelId="{F50F22D6-32BC-4B45-B9E2-37F3139C8ACF}" type="presParOf" srcId="{7E8B64D4-FCB7-40FB-B64F-E115420AD2B9}" destId="{CDF348A5-27E2-433C-A59B-344FC1C5464E}" srcOrd="1" destOrd="0" presId="urn:microsoft.com/office/officeart/2018/2/layout/IconLabelList"/>
    <dgm:cxn modelId="{8004F67F-0552-4FD1-B204-501011A65FEC}" type="presParOf" srcId="{7E8B64D4-FCB7-40FB-B64F-E115420AD2B9}" destId="{F2A460DF-0229-4067-879D-B4D7DFE08696}"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0AC8826-2E48-4D9A-8EC3-0C4C9C651D9B}"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0665F993-3A57-45D6-8E8A-50DD5319890E}">
      <dgm:prSet/>
      <dgm:spPr/>
      <dgm:t>
        <a:bodyPr/>
        <a:lstStyle/>
        <a:p>
          <a:pPr>
            <a:lnSpc>
              <a:spcPct val="100000"/>
            </a:lnSpc>
            <a:defRPr cap="all"/>
          </a:pPr>
          <a:r>
            <a:rPr lang="en-US" i="0" baseline="0" dirty="0"/>
            <a:t>Cost of pruning and analysis</a:t>
          </a:r>
          <a:endParaRPr lang="en-US" dirty="0"/>
        </a:p>
      </dgm:t>
    </dgm:pt>
    <dgm:pt modelId="{ED53F184-A851-4247-B79F-75CFB2BA21E6}" type="parTrans" cxnId="{EFD273F1-AF48-4EF5-9410-953A1DF14C6F}">
      <dgm:prSet/>
      <dgm:spPr/>
      <dgm:t>
        <a:bodyPr/>
        <a:lstStyle/>
        <a:p>
          <a:endParaRPr lang="en-US"/>
        </a:p>
      </dgm:t>
    </dgm:pt>
    <dgm:pt modelId="{C62CB059-77C7-42A0-B97F-590E9D20E816}" type="sibTrans" cxnId="{EFD273F1-AF48-4EF5-9410-953A1DF14C6F}">
      <dgm:prSet/>
      <dgm:spPr/>
      <dgm:t>
        <a:bodyPr/>
        <a:lstStyle/>
        <a:p>
          <a:endParaRPr lang="en-US"/>
        </a:p>
      </dgm:t>
    </dgm:pt>
    <dgm:pt modelId="{94C76E46-3770-45E9-A088-33CD74D47E5B}">
      <dgm:prSet/>
      <dgm:spPr/>
      <dgm:t>
        <a:bodyPr/>
        <a:lstStyle/>
        <a:p>
          <a:pPr>
            <a:lnSpc>
              <a:spcPct val="100000"/>
            </a:lnSpc>
            <a:defRPr cap="all"/>
          </a:pPr>
          <a:r>
            <a:rPr lang="en-US" i="0" baseline="0"/>
            <a:t>Data &amp; privacy risks </a:t>
          </a:r>
          <a:endParaRPr lang="en-US"/>
        </a:p>
      </dgm:t>
    </dgm:pt>
    <dgm:pt modelId="{7366D095-1C5D-499F-B00B-5EF0826EDDB7}" type="parTrans" cxnId="{EE370431-BB98-40EA-9C68-17AA36A10032}">
      <dgm:prSet/>
      <dgm:spPr/>
      <dgm:t>
        <a:bodyPr/>
        <a:lstStyle/>
        <a:p>
          <a:endParaRPr lang="en-US"/>
        </a:p>
      </dgm:t>
    </dgm:pt>
    <dgm:pt modelId="{9D9345B5-0B7C-48D9-93B0-DA436462A443}" type="sibTrans" cxnId="{EE370431-BB98-40EA-9C68-17AA36A10032}">
      <dgm:prSet/>
      <dgm:spPr/>
      <dgm:t>
        <a:bodyPr/>
        <a:lstStyle/>
        <a:p>
          <a:endParaRPr lang="en-US"/>
        </a:p>
      </dgm:t>
    </dgm:pt>
    <dgm:pt modelId="{AB9EABBF-9856-46E7-906F-22564253BAD6}">
      <dgm:prSet/>
      <dgm:spPr/>
      <dgm:t>
        <a:bodyPr/>
        <a:lstStyle/>
        <a:p>
          <a:pPr>
            <a:lnSpc>
              <a:spcPct val="100000"/>
            </a:lnSpc>
            <a:defRPr cap="all"/>
          </a:pPr>
          <a:r>
            <a:rPr lang="en-US" i="0" baseline="0"/>
            <a:t>Techno-solutionism </a:t>
          </a:r>
          <a:endParaRPr lang="en-US"/>
        </a:p>
      </dgm:t>
    </dgm:pt>
    <dgm:pt modelId="{88F6894A-742E-4A64-93FD-8261ABFE3759}" type="parTrans" cxnId="{1A889F11-3671-4F8C-9F83-CB08E6ACBC2B}">
      <dgm:prSet/>
      <dgm:spPr/>
      <dgm:t>
        <a:bodyPr/>
        <a:lstStyle/>
        <a:p>
          <a:endParaRPr lang="en-US"/>
        </a:p>
      </dgm:t>
    </dgm:pt>
    <dgm:pt modelId="{1171191C-5DBD-4939-BEF5-9B4DEBFA6716}" type="sibTrans" cxnId="{1A889F11-3671-4F8C-9F83-CB08E6ACBC2B}">
      <dgm:prSet/>
      <dgm:spPr/>
      <dgm:t>
        <a:bodyPr/>
        <a:lstStyle/>
        <a:p>
          <a:endParaRPr lang="en-US"/>
        </a:p>
      </dgm:t>
    </dgm:pt>
    <dgm:pt modelId="{57940115-482A-47BC-9F26-C72E408DE449}">
      <dgm:prSet/>
      <dgm:spPr/>
      <dgm:t>
        <a:bodyPr/>
        <a:lstStyle/>
        <a:p>
          <a:pPr>
            <a:lnSpc>
              <a:spcPct val="100000"/>
            </a:lnSpc>
            <a:defRPr cap="all"/>
          </a:pPr>
          <a:r>
            <a:rPr lang="en-US" i="0" baseline="0"/>
            <a:t>Trust &amp; over-reliance </a:t>
          </a:r>
          <a:endParaRPr lang="en-US"/>
        </a:p>
      </dgm:t>
    </dgm:pt>
    <dgm:pt modelId="{55C7A2ED-22DF-4F10-854A-93720A9397AB}" type="parTrans" cxnId="{5D44DF9F-993A-4D44-A16B-42FB798070A5}">
      <dgm:prSet/>
      <dgm:spPr/>
      <dgm:t>
        <a:bodyPr/>
        <a:lstStyle/>
        <a:p>
          <a:endParaRPr lang="en-US"/>
        </a:p>
      </dgm:t>
    </dgm:pt>
    <dgm:pt modelId="{6CDE557D-40BE-4C21-B8D2-A561441E27D2}" type="sibTrans" cxnId="{5D44DF9F-993A-4D44-A16B-42FB798070A5}">
      <dgm:prSet/>
      <dgm:spPr/>
      <dgm:t>
        <a:bodyPr/>
        <a:lstStyle/>
        <a:p>
          <a:endParaRPr lang="en-US"/>
        </a:p>
      </dgm:t>
    </dgm:pt>
    <dgm:pt modelId="{495351BE-6DFB-4128-919E-2F5FC28F356B}">
      <dgm:prSet/>
      <dgm:spPr/>
      <dgm:t>
        <a:bodyPr/>
        <a:lstStyle/>
        <a:p>
          <a:pPr>
            <a:lnSpc>
              <a:spcPct val="100000"/>
            </a:lnSpc>
            <a:defRPr cap="all"/>
          </a:pPr>
          <a:r>
            <a:rPr lang="en-US" i="0" baseline="0"/>
            <a:t>Equity &amp; access </a:t>
          </a:r>
          <a:endParaRPr lang="en-US"/>
        </a:p>
      </dgm:t>
    </dgm:pt>
    <dgm:pt modelId="{82971FE9-CB73-4B6F-ABB0-B59E8FA186A4}" type="parTrans" cxnId="{ADAA3637-54E5-4196-A38D-CB93E9FE1C34}">
      <dgm:prSet/>
      <dgm:spPr/>
      <dgm:t>
        <a:bodyPr/>
        <a:lstStyle/>
        <a:p>
          <a:endParaRPr lang="en-US"/>
        </a:p>
      </dgm:t>
    </dgm:pt>
    <dgm:pt modelId="{E1139A47-1E5D-4E64-8FE3-035BE0FD6608}" type="sibTrans" cxnId="{ADAA3637-54E5-4196-A38D-CB93E9FE1C34}">
      <dgm:prSet/>
      <dgm:spPr/>
      <dgm:t>
        <a:bodyPr/>
        <a:lstStyle/>
        <a:p>
          <a:endParaRPr lang="en-US"/>
        </a:p>
      </dgm:t>
    </dgm:pt>
    <dgm:pt modelId="{73B7CAD7-D287-464E-A181-FCD6E4A5FB0D}" type="pres">
      <dgm:prSet presAssocID="{B0AC8826-2E48-4D9A-8EC3-0C4C9C651D9B}" presName="root" presStyleCnt="0">
        <dgm:presLayoutVars>
          <dgm:dir/>
          <dgm:resizeHandles val="exact"/>
        </dgm:presLayoutVars>
      </dgm:prSet>
      <dgm:spPr/>
    </dgm:pt>
    <dgm:pt modelId="{CE6F8C42-7D0A-410D-89D0-28C7632CE516}" type="pres">
      <dgm:prSet presAssocID="{0665F993-3A57-45D6-8E8A-50DD5319890E}" presName="compNode" presStyleCnt="0"/>
      <dgm:spPr/>
    </dgm:pt>
    <dgm:pt modelId="{897CEDF3-7928-4476-8C37-6585701C5B11}" type="pres">
      <dgm:prSet presAssocID="{0665F993-3A57-45D6-8E8A-50DD5319890E}" presName="iconBgRect" presStyleLbl="bgShp" presStyleIdx="0" presStyleCnt="5"/>
      <dgm:spPr/>
    </dgm:pt>
    <dgm:pt modelId="{C8636BE3-6846-4D03-9496-F47F546C6075}" type="pres">
      <dgm:prSet presAssocID="{0665F993-3A57-45D6-8E8A-50DD5319890E}"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eciduous tree"/>
        </a:ext>
      </dgm:extLst>
    </dgm:pt>
    <dgm:pt modelId="{AD5C2E75-D3E8-4D4A-8FCA-2BADD02DB0F1}" type="pres">
      <dgm:prSet presAssocID="{0665F993-3A57-45D6-8E8A-50DD5319890E}" presName="spaceRect" presStyleCnt="0"/>
      <dgm:spPr/>
    </dgm:pt>
    <dgm:pt modelId="{B19D7DEA-AAB2-423B-B926-AD0546C990A1}" type="pres">
      <dgm:prSet presAssocID="{0665F993-3A57-45D6-8E8A-50DD5319890E}" presName="textRect" presStyleLbl="revTx" presStyleIdx="0" presStyleCnt="5">
        <dgm:presLayoutVars>
          <dgm:chMax val="1"/>
          <dgm:chPref val="1"/>
        </dgm:presLayoutVars>
      </dgm:prSet>
      <dgm:spPr/>
    </dgm:pt>
    <dgm:pt modelId="{92E51465-C347-411E-9DD1-EBEDD2C105ED}" type="pres">
      <dgm:prSet presAssocID="{C62CB059-77C7-42A0-B97F-590E9D20E816}" presName="sibTrans" presStyleCnt="0"/>
      <dgm:spPr/>
    </dgm:pt>
    <dgm:pt modelId="{24F8BF8D-0FEF-4EC9-ACF7-2D8BD3FA46CE}" type="pres">
      <dgm:prSet presAssocID="{94C76E46-3770-45E9-A088-33CD74D47E5B}" presName="compNode" presStyleCnt="0"/>
      <dgm:spPr/>
    </dgm:pt>
    <dgm:pt modelId="{3419D1C3-0C7E-4D13-8F54-93787531B12A}" type="pres">
      <dgm:prSet presAssocID="{94C76E46-3770-45E9-A088-33CD74D47E5B}" presName="iconBgRect" presStyleLbl="bgShp" presStyleIdx="1" presStyleCnt="5"/>
      <dgm:spPr/>
    </dgm:pt>
    <dgm:pt modelId="{AE023E72-CC7A-47C4-ABA8-B27447CA0FA4}" type="pres">
      <dgm:prSet presAssocID="{94C76E46-3770-45E9-A088-33CD74D47E5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Lock"/>
        </a:ext>
      </dgm:extLst>
    </dgm:pt>
    <dgm:pt modelId="{51AAD06A-34AA-4C20-AA54-A67500E6583A}" type="pres">
      <dgm:prSet presAssocID="{94C76E46-3770-45E9-A088-33CD74D47E5B}" presName="spaceRect" presStyleCnt="0"/>
      <dgm:spPr/>
    </dgm:pt>
    <dgm:pt modelId="{011E73FC-1D05-44BE-9519-CC4740014983}" type="pres">
      <dgm:prSet presAssocID="{94C76E46-3770-45E9-A088-33CD74D47E5B}" presName="textRect" presStyleLbl="revTx" presStyleIdx="1" presStyleCnt="5">
        <dgm:presLayoutVars>
          <dgm:chMax val="1"/>
          <dgm:chPref val="1"/>
        </dgm:presLayoutVars>
      </dgm:prSet>
      <dgm:spPr/>
    </dgm:pt>
    <dgm:pt modelId="{718DE39A-8F35-4EF7-9F10-0B339B62CA31}" type="pres">
      <dgm:prSet presAssocID="{9D9345B5-0B7C-48D9-93B0-DA436462A443}" presName="sibTrans" presStyleCnt="0"/>
      <dgm:spPr/>
    </dgm:pt>
    <dgm:pt modelId="{4CC29F18-E16F-411A-9BBA-18D5A5A68D4C}" type="pres">
      <dgm:prSet presAssocID="{AB9EABBF-9856-46E7-906F-22564253BAD6}" presName="compNode" presStyleCnt="0"/>
      <dgm:spPr/>
    </dgm:pt>
    <dgm:pt modelId="{6E99EB37-28A0-427D-A671-E83BF9A66202}" type="pres">
      <dgm:prSet presAssocID="{AB9EABBF-9856-46E7-906F-22564253BAD6}" presName="iconBgRect" presStyleLbl="bgShp" presStyleIdx="2" presStyleCnt="5"/>
      <dgm:spPr/>
    </dgm:pt>
    <dgm:pt modelId="{928DDC0D-B9F6-46E4-9CEA-DC589941793A}" type="pres">
      <dgm:prSet presAssocID="{AB9EABBF-9856-46E7-906F-22564253BAD6}"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J"/>
        </a:ext>
      </dgm:extLst>
    </dgm:pt>
    <dgm:pt modelId="{F4FF76A4-A749-45AC-8232-14369B6C815C}" type="pres">
      <dgm:prSet presAssocID="{AB9EABBF-9856-46E7-906F-22564253BAD6}" presName="spaceRect" presStyleCnt="0"/>
      <dgm:spPr/>
    </dgm:pt>
    <dgm:pt modelId="{92E5B208-3461-4040-8BA1-3E5E1FA193EC}" type="pres">
      <dgm:prSet presAssocID="{AB9EABBF-9856-46E7-906F-22564253BAD6}" presName="textRect" presStyleLbl="revTx" presStyleIdx="2" presStyleCnt="5">
        <dgm:presLayoutVars>
          <dgm:chMax val="1"/>
          <dgm:chPref val="1"/>
        </dgm:presLayoutVars>
      </dgm:prSet>
      <dgm:spPr/>
    </dgm:pt>
    <dgm:pt modelId="{9E556C75-6DAC-4844-B9A0-183782A3D1F5}" type="pres">
      <dgm:prSet presAssocID="{1171191C-5DBD-4939-BEF5-9B4DEBFA6716}" presName="sibTrans" presStyleCnt="0"/>
      <dgm:spPr/>
    </dgm:pt>
    <dgm:pt modelId="{9B2FD0C9-19E7-4F5A-944D-DEA8C9F12264}" type="pres">
      <dgm:prSet presAssocID="{57940115-482A-47BC-9F26-C72E408DE449}" presName="compNode" presStyleCnt="0"/>
      <dgm:spPr/>
    </dgm:pt>
    <dgm:pt modelId="{BF911C59-6559-426C-88AE-5BA40A5F0AE8}" type="pres">
      <dgm:prSet presAssocID="{57940115-482A-47BC-9F26-C72E408DE449}" presName="iconBgRect" presStyleLbl="bgShp" presStyleIdx="3" presStyleCnt="5"/>
      <dgm:spPr/>
    </dgm:pt>
    <dgm:pt modelId="{F3F269BB-A33D-4DEC-A7C4-E0668E622A36}" type="pres">
      <dgm:prSet presAssocID="{57940115-482A-47BC-9F26-C72E408DE44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Handshake"/>
        </a:ext>
      </dgm:extLst>
    </dgm:pt>
    <dgm:pt modelId="{A7E1227C-9EFA-494E-B2CB-9AE2D338F481}" type="pres">
      <dgm:prSet presAssocID="{57940115-482A-47BC-9F26-C72E408DE449}" presName="spaceRect" presStyleCnt="0"/>
      <dgm:spPr/>
    </dgm:pt>
    <dgm:pt modelId="{EFFE8710-74C4-446A-9B88-AD6C91E20B48}" type="pres">
      <dgm:prSet presAssocID="{57940115-482A-47BC-9F26-C72E408DE449}" presName="textRect" presStyleLbl="revTx" presStyleIdx="3" presStyleCnt="5">
        <dgm:presLayoutVars>
          <dgm:chMax val="1"/>
          <dgm:chPref val="1"/>
        </dgm:presLayoutVars>
      </dgm:prSet>
      <dgm:spPr/>
    </dgm:pt>
    <dgm:pt modelId="{78A38332-7C33-4E24-BBE7-AC210015D9AA}" type="pres">
      <dgm:prSet presAssocID="{6CDE557D-40BE-4C21-B8D2-A561441E27D2}" presName="sibTrans" presStyleCnt="0"/>
      <dgm:spPr/>
    </dgm:pt>
    <dgm:pt modelId="{7E3B3AD6-0780-4BF0-8B86-8A9E73F3F4F3}" type="pres">
      <dgm:prSet presAssocID="{495351BE-6DFB-4128-919E-2F5FC28F356B}" presName="compNode" presStyleCnt="0"/>
      <dgm:spPr/>
    </dgm:pt>
    <dgm:pt modelId="{4B15AACA-8287-493F-979F-9C6D00489B11}" type="pres">
      <dgm:prSet presAssocID="{495351BE-6DFB-4128-919E-2F5FC28F356B}" presName="iconBgRect" presStyleLbl="bgShp" presStyleIdx="4" presStyleCnt="5"/>
      <dgm:spPr/>
    </dgm:pt>
    <dgm:pt modelId="{49614342-0A12-4A9C-9ACD-291B17E8E0EE}" type="pres">
      <dgm:prSet presAssocID="{495351BE-6DFB-4128-919E-2F5FC28F356B}"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Money"/>
        </a:ext>
      </dgm:extLst>
    </dgm:pt>
    <dgm:pt modelId="{A6AD829C-557E-4BAF-96B2-8105334470EC}" type="pres">
      <dgm:prSet presAssocID="{495351BE-6DFB-4128-919E-2F5FC28F356B}" presName="spaceRect" presStyleCnt="0"/>
      <dgm:spPr/>
    </dgm:pt>
    <dgm:pt modelId="{23C3B59C-F4D9-4DC5-9D84-21859BD00DE7}" type="pres">
      <dgm:prSet presAssocID="{495351BE-6DFB-4128-919E-2F5FC28F356B}" presName="textRect" presStyleLbl="revTx" presStyleIdx="4" presStyleCnt="5">
        <dgm:presLayoutVars>
          <dgm:chMax val="1"/>
          <dgm:chPref val="1"/>
        </dgm:presLayoutVars>
      </dgm:prSet>
      <dgm:spPr/>
    </dgm:pt>
  </dgm:ptLst>
  <dgm:cxnLst>
    <dgm:cxn modelId="{1A889F11-3671-4F8C-9F83-CB08E6ACBC2B}" srcId="{B0AC8826-2E48-4D9A-8EC3-0C4C9C651D9B}" destId="{AB9EABBF-9856-46E7-906F-22564253BAD6}" srcOrd="2" destOrd="0" parTransId="{88F6894A-742E-4A64-93FD-8261ABFE3759}" sibTransId="{1171191C-5DBD-4939-BEF5-9B4DEBFA6716}"/>
    <dgm:cxn modelId="{4B80D524-2F23-4379-9F1B-12643BF08A5B}" type="presOf" srcId="{0665F993-3A57-45D6-8E8A-50DD5319890E}" destId="{B19D7DEA-AAB2-423B-B926-AD0546C990A1}" srcOrd="0" destOrd="0" presId="urn:microsoft.com/office/officeart/2018/5/layout/IconCircleLabelList"/>
    <dgm:cxn modelId="{EE370431-BB98-40EA-9C68-17AA36A10032}" srcId="{B0AC8826-2E48-4D9A-8EC3-0C4C9C651D9B}" destId="{94C76E46-3770-45E9-A088-33CD74D47E5B}" srcOrd="1" destOrd="0" parTransId="{7366D095-1C5D-499F-B00B-5EF0826EDDB7}" sibTransId="{9D9345B5-0B7C-48D9-93B0-DA436462A443}"/>
    <dgm:cxn modelId="{ADAA3637-54E5-4196-A38D-CB93E9FE1C34}" srcId="{B0AC8826-2E48-4D9A-8EC3-0C4C9C651D9B}" destId="{495351BE-6DFB-4128-919E-2F5FC28F356B}" srcOrd="4" destOrd="0" parTransId="{82971FE9-CB73-4B6F-ABB0-B59E8FA186A4}" sibTransId="{E1139A47-1E5D-4E64-8FE3-035BE0FD6608}"/>
    <dgm:cxn modelId="{89521280-1BD8-4D7D-8DE0-6317715EFEE9}" type="presOf" srcId="{495351BE-6DFB-4128-919E-2F5FC28F356B}" destId="{23C3B59C-F4D9-4DC5-9D84-21859BD00DE7}" srcOrd="0" destOrd="0" presId="urn:microsoft.com/office/officeart/2018/5/layout/IconCircleLabelList"/>
    <dgm:cxn modelId="{8CC9049D-9D1F-43AF-B84C-82B131068269}" type="presOf" srcId="{AB9EABBF-9856-46E7-906F-22564253BAD6}" destId="{92E5B208-3461-4040-8BA1-3E5E1FA193EC}" srcOrd="0" destOrd="0" presId="urn:microsoft.com/office/officeart/2018/5/layout/IconCircleLabelList"/>
    <dgm:cxn modelId="{5D44DF9F-993A-4D44-A16B-42FB798070A5}" srcId="{B0AC8826-2E48-4D9A-8EC3-0C4C9C651D9B}" destId="{57940115-482A-47BC-9F26-C72E408DE449}" srcOrd="3" destOrd="0" parTransId="{55C7A2ED-22DF-4F10-854A-93720A9397AB}" sibTransId="{6CDE557D-40BE-4C21-B8D2-A561441E27D2}"/>
    <dgm:cxn modelId="{121E6ADF-FF77-429D-8787-FFD6E5A8B0C3}" type="presOf" srcId="{94C76E46-3770-45E9-A088-33CD74D47E5B}" destId="{011E73FC-1D05-44BE-9519-CC4740014983}" srcOrd="0" destOrd="0" presId="urn:microsoft.com/office/officeart/2018/5/layout/IconCircleLabelList"/>
    <dgm:cxn modelId="{05A8F7E1-61AE-4472-9544-6587EB4273DD}" type="presOf" srcId="{57940115-482A-47BC-9F26-C72E408DE449}" destId="{EFFE8710-74C4-446A-9B88-AD6C91E20B48}" srcOrd="0" destOrd="0" presId="urn:microsoft.com/office/officeart/2018/5/layout/IconCircleLabelList"/>
    <dgm:cxn modelId="{EFD273F1-AF48-4EF5-9410-953A1DF14C6F}" srcId="{B0AC8826-2E48-4D9A-8EC3-0C4C9C651D9B}" destId="{0665F993-3A57-45D6-8E8A-50DD5319890E}" srcOrd="0" destOrd="0" parTransId="{ED53F184-A851-4247-B79F-75CFB2BA21E6}" sibTransId="{C62CB059-77C7-42A0-B97F-590E9D20E816}"/>
    <dgm:cxn modelId="{A0AAE5F3-B8F7-48AD-81D0-CF367847EA2E}" type="presOf" srcId="{B0AC8826-2E48-4D9A-8EC3-0C4C9C651D9B}" destId="{73B7CAD7-D287-464E-A181-FCD6E4A5FB0D}" srcOrd="0" destOrd="0" presId="urn:microsoft.com/office/officeart/2018/5/layout/IconCircleLabelList"/>
    <dgm:cxn modelId="{E912A878-BC23-4251-87D6-19FD3B14CEFF}" type="presParOf" srcId="{73B7CAD7-D287-464E-A181-FCD6E4A5FB0D}" destId="{CE6F8C42-7D0A-410D-89D0-28C7632CE516}" srcOrd="0" destOrd="0" presId="urn:microsoft.com/office/officeart/2018/5/layout/IconCircleLabelList"/>
    <dgm:cxn modelId="{038FC489-7669-4BFA-8883-AAB0F988A8E4}" type="presParOf" srcId="{CE6F8C42-7D0A-410D-89D0-28C7632CE516}" destId="{897CEDF3-7928-4476-8C37-6585701C5B11}" srcOrd="0" destOrd="0" presId="urn:microsoft.com/office/officeart/2018/5/layout/IconCircleLabelList"/>
    <dgm:cxn modelId="{F9E6AEDC-1C40-4437-94CD-4FB0508AF948}" type="presParOf" srcId="{CE6F8C42-7D0A-410D-89D0-28C7632CE516}" destId="{C8636BE3-6846-4D03-9496-F47F546C6075}" srcOrd="1" destOrd="0" presId="urn:microsoft.com/office/officeart/2018/5/layout/IconCircleLabelList"/>
    <dgm:cxn modelId="{0538EE20-F111-4F3B-88D3-B8D29D4D7ADA}" type="presParOf" srcId="{CE6F8C42-7D0A-410D-89D0-28C7632CE516}" destId="{AD5C2E75-D3E8-4D4A-8FCA-2BADD02DB0F1}" srcOrd="2" destOrd="0" presId="urn:microsoft.com/office/officeart/2018/5/layout/IconCircleLabelList"/>
    <dgm:cxn modelId="{0ACF16F8-7174-4688-81F1-A112A0E1F824}" type="presParOf" srcId="{CE6F8C42-7D0A-410D-89D0-28C7632CE516}" destId="{B19D7DEA-AAB2-423B-B926-AD0546C990A1}" srcOrd="3" destOrd="0" presId="urn:microsoft.com/office/officeart/2018/5/layout/IconCircleLabelList"/>
    <dgm:cxn modelId="{F118D8F1-7FA7-4FF9-BF7A-4CEE688F6B20}" type="presParOf" srcId="{73B7CAD7-D287-464E-A181-FCD6E4A5FB0D}" destId="{92E51465-C347-411E-9DD1-EBEDD2C105ED}" srcOrd="1" destOrd="0" presId="urn:microsoft.com/office/officeart/2018/5/layout/IconCircleLabelList"/>
    <dgm:cxn modelId="{42540970-A785-4557-A8DB-78759F84BA07}" type="presParOf" srcId="{73B7CAD7-D287-464E-A181-FCD6E4A5FB0D}" destId="{24F8BF8D-0FEF-4EC9-ACF7-2D8BD3FA46CE}" srcOrd="2" destOrd="0" presId="urn:microsoft.com/office/officeart/2018/5/layout/IconCircleLabelList"/>
    <dgm:cxn modelId="{E0035AAA-CE95-4AD0-BD4F-35F407DFC603}" type="presParOf" srcId="{24F8BF8D-0FEF-4EC9-ACF7-2D8BD3FA46CE}" destId="{3419D1C3-0C7E-4D13-8F54-93787531B12A}" srcOrd="0" destOrd="0" presId="urn:microsoft.com/office/officeart/2018/5/layout/IconCircleLabelList"/>
    <dgm:cxn modelId="{F60B634F-4D11-4EC4-8A14-08E5CCBB9FA3}" type="presParOf" srcId="{24F8BF8D-0FEF-4EC9-ACF7-2D8BD3FA46CE}" destId="{AE023E72-CC7A-47C4-ABA8-B27447CA0FA4}" srcOrd="1" destOrd="0" presId="urn:microsoft.com/office/officeart/2018/5/layout/IconCircleLabelList"/>
    <dgm:cxn modelId="{811B846F-7C33-461B-AE4A-59E5FC17D2BC}" type="presParOf" srcId="{24F8BF8D-0FEF-4EC9-ACF7-2D8BD3FA46CE}" destId="{51AAD06A-34AA-4C20-AA54-A67500E6583A}" srcOrd="2" destOrd="0" presId="urn:microsoft.com/office/officeart/2018/5/layout/IconCircleLabelList"/>
    <dgm:cxn modelId="{D940A221-CE7D-4DA1-A5E9-1CCB2C27CF12}" type="presParOf" srcId="{24F8BF8D-0FEF-4EC9-ACF7-2D8BD3FA46CE}" destId="{011E73FC-1D05-44BE-9519-CC4740014983}" srcOrd="3" destOrd="0" presId="urn:microsoft.com/office/officeart/2018/5/layout/IconCircleLabelList"/>
    <dgm:cxn modelId="{C7B3785F-0877-4B06-AAAD-69E23A3D5B95}" type="presParOf" srcId="{73B7CAD7-D287-464E-A181-FCD6E4A5FB0D}" destId="{718DE39A-8F35-4EF7-9F10-0B339B62CA31}" srcOrd="3" destOrd="0" presId="urn:microsoft.com/office/officeart/2018/5/layout/IconCircleLabelList"/>
    <dgm:cxn modelId="{E02162CD-A627-43E5-A6BB-662ADA577A5B}" type="presParOf" srcId="{73B7CAD7-D287-464E-A181-FCD6E4A5FB0D}" destId="{4CC29F18-E16F-411A-9BBA-18D5A5A68D4C}" srcOrd="4" destOrd="0" presId="urn:microsoft.com/office/officeart/2018/5/layout/IconCircleLabelList"/>
    <dgm:cxn modelId="{95794ABE-8D6E-445B-B0CC-8BDC3A24B2B9}" type="presParOf" srcId="{4CC29F18-E16F-411A-9BBA-18D5A5A68D4C}" destId="{6E99EB37-28A0-427D-A671-E83BF9A66202}" srcOrd="0" destOrd="0" presId="urn:microsoft.com/office/officeart/2018/5/layout/IconCircleLabelList"/>
    <dgm:cxn modelId="{1E3CD42D-A571-475D-AB39-BA1E2EDE2A3A}" type="presParOf" srcId="{4CC29F18-E16F-411A-9BBA-18D5A5A68D4C}" destId="{928DDC0D-B9F6-46E4-9CEA-DC589941793A}" srcOrd="1" destOrd="0" presId="urn:microsoft.com/office/officeart/2018/5/layout/IconCircleLabelList"/>
    <dgm:cxn modelId="{E975315B-E522-4398-B73D-B8BA51E09226}" type="presParOf" srcId="{4CC29F18-E16F-411A-9BBA-18D5A5A68D4C}" destId="{F4FF76A4-A749-45AC-8232-14369B6C815C}" srcOrd="2" destOrd="0" presId="urn:microsoft.com/office/officeart/2018/5/layout/IconCircleLabelList"/>
    <dgm:cxn modelId="{33F1BD29-69DA-4F6A-9318-C300DB37E36B}" type="presParOf" srcId="{4CC29F18-E16F-411A-9BBA-18D5A5A68D4C}" destId="{92E5B208-3461-4040-8BA1-3E5E1FA193EC}" srcOrd="3" destOrd="0" presId="urn:microsoft.com/office/officeart/2018/5/layout/IconCircleLabelList"/>
    <dgm:cxn modelId="{4A7EDCA6-B597-4E99-9A1B-3F65E7B2BDE2}" type="presParOf" srcId="{73B7CAD7-D287-464E-A181-FCD6E4A5FB0D}" destId="{9E556C75-6DAC-4844-B9A0-183782A3D1F5}" srcOrd="5" destOrd="0" presId="urn:microsoft.com/office/officeart/2018/5/layout/IconCircleLabelList"/>
    <dgm:cxn modelId="{6026C882-E4A6-47DA-887A-8EC87AC66AC3}" type="presParOf" srcId="{73B7CAD7-D287-464E-A181-FCD6E4A5FB0D}" destId="{9B2FD0C9-19E7-4F5A-944D-DEA8C9F12264}" srcOrd="6" destOrd="0" presId="urn:microsoft.com/office/officeart/2018/5/layout/IconCircleLabelList"/>
    <dgm:cxn modelId="{0940D651-B2D8-4561-B034-10A71F37286A}" type="presParOf" srcId="{9B2FD0C9-19E7-4F5A-944D-DEA8C9F12264}" destId="{BF911C59-6559-426C-88AE-5BA40A5F0AE8}" srcOrd="0" destOrd="0" presId="urn:microsoft.com/office/officeart/2018/5/layout/IconCircleLabelList"/>
    <dgm:cxn modelId="{ACDAE7C0-C735-4868-A679-673362F444F8}" type="presParOf" srcId="{9B2FD0C9-19E7-4F5A-944D-DEA8C9F12264}" destId="{F3F269BB-A33D-4DEC-A7C4-E0668E622A36}" srcOrd="1" destOrd="0" presId="urn:microsoft.com/office/officeart/2018/5/layout/IconCircleLabelList"/>
    <dgm:cxn modelId="{B6144204-956E-4F40-B762-6761ACB02B59}" type="presParOf" srcId="{9B2FD0C9-19E7-4F5A-944D-DEA8C9F12264}" destId="{A7E1227C-9EFA-494E-B2CB-9AE2D338F481}" srcOrd="2" destOrd="0" presId="urn:microsoft.com/office/officeart/2018/5/layout/IconCircleLabelList"/>
    <dgm:cxn modelId="{82306FB0-7448-4148-8AD1-650557222A91}" type="presParOf" srcId="{9B2FD0C9-19E7-4F5A-944D-DEA8C9F12264}" destId="{EFFE8710-74C4-446A-9B88-AD6C91E20B48}" srcOrd="3" destOrd="0" presId="urn:microsoft.com/office/officeart/2018/5/layout/IconCircleLabelList"/>
    <dgm:cxn modelId="{501EF1EC-E5FA-4E0B-B90B-327AEB62E8E1}" type="presParOf" srcId="{73B7CAD7-D287-464E-A181-FCD6E4A5FB0D}" destId="{78A38332-7C33-4E24-BBE7-AC210015D9AA}" srcOrd="7" destOrd="0" presId="urn:microsoft.com/office/officeart/2018/5/layout/IconCircleLabelList"/>
    <dgm:cxn modelId="{AE226BB0-9F0D-403B-BE9B-EF1B426371CB}" type="presParOf" srcId="{73B7CAD7-D287-464E-A181-FCD6E4A5FB0D}" destId="{7E3B3AD6-0780-4BF0-8B86-8A9E73F3F4F3}" srcOrd="8" destOrd="0" presId="urn:microsoft.com/office/officeart/2018/5/layout/IconCircleLabelList"/>
    <dgm:cxn modelId="{B21C8D13-C91D-4519-BE40-72EAF224B30B}" type="presParOf" srcId="{7E3B3AD6-0780-4BF0-8B86-8A9E73F3F4F3}" destId="{4B15AACA-8287-493F-979F-9C6D00489B11}" srcOrd="0" destOrd="0" presId="urn:microsoft.com/office/officeart/2018/5/layout/IconCircleLabelList"/>
    <dgm:cxn modelId="{80DD1963-EAA3-4406-A541-786E5DBFF574}" type="presParOf" srcId="{7E3B3AD6-0780-4BF0-8B86-8A9E73F3F4F3}" destId="{49614342-0A12-4A9C-9ACD-291B17E8E0EE}" srcOrd="1" destOrd="0" presId="urn:microsoft.com/office/officeart/2018/5/layout/IconCircleLabelList"/>
    <dgm:cxn modelId="{80B169E6-DAC5-4A21-AC61-3EF6899335BC}" type="presParOf" srcId="{7E3B3AD6-0780-4BF0-8B86-8A9E73F3F4F3}" destId="{A6AD829C-557E-4BAF-96B2-8105334470EC}" srcOrd="2" destOrd="0" presId="urn:microsoft.com/office/officeart/2018/5/layout/IconCircleLabelList"/>
    <dgm:cxn modelId="{2FEE4FBB-0B0D-4FFC-B02E-B0C9EC8A99B2}" type="presParOf" srcId="{7E3B3AD6-0780-4BF0-8B86-8A9E73F3F4F3}" destId="{23C3B59C-F4D9-4DC5-9D84-21859BD00DE7}"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3A2C8A-8677-44AF-A060-B05014F48577}">
      <dsp:nvSpPr>
        <dsp:cNvPr id="0" name=""/>
        <dsp:cNvSpPr/>
      </dsp:nvSpPr>
      <dsp:spPr>
        <a:xfrm>
          <a:off x="191458" y="1646453"/>
          <a:ext cx="800575" cy="80057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9A956C-BDFD-4B4E-ABCB-5C4B66A024E3}">
      <dsp:nvSpPr>
        <dsp:cNvPr id="0" name=""/>
        <dsp:cNvSpPr/>
      </dsp:nvSpPr>
      <dsp:spPr>
        <a:xfrm>
          <a:off x="359579" y="1814573"/>
          <a:ext cx="464334" cy="46433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C24AD13-6FE5-4532-AC40-0E4B20C121FF}">
      <dsp:nvSpPr>
        <dsp:cNvPr id="0" name=""/>
        <dsp:cNvSpPr/>
      </dsp:nvSpPr>
      <dsp:spPr>
        <a:xfrm>
          <a:off x="1163586" y="1646453"/>
          <a:ext cx="1887071" cy="800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b="0" i="0" kern="1200" baseline="0"/>
            <a:t>LLMs → high compute &amp; energy </a:t>
          </a:r>
          <a:endParaRPr lang="en-US" sz="1800" kern="1200"/>
        </a:p>
      </dsp:txBody>
      <dsp:txXfrm>
        <a:off x="1163586" y="1646453"/>
        <a:ext cx="1887071" cy="800575"/>
      </dsp:txXfrm>
    </dsp:sp>
    <dsp:sp modelId="{42E6EC47-0E32-44E2-AA23-09D78047317A}">
      <dsp:nvSpPr>
        <dsp:cNvPr id="0" name=""/>
        <dsp:cNvSpPr/>
      </dsp:nvSpPr>
      <dsp:spPr>
        <a:xfrm>
          <a:off x="3379466" y="1646453"/>
          <a:ext cx="800575" cy="80057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6ED690-1405-404E-A92C-19C29642BDFF}">
      <dsp:nvSpPr>
        <dsp:cNvPr id="0" name=""/>
        <dsp:cNvSpPr/>
      </dsp:nvSpPr>
      <dsp:spPr>
        <a:xfrm>
          <a:off x="3547587" y="1814573"/>
          <a:ext cx="464334" cy="46433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68D2958-48C0-4213-B89C-F3E3333F592D}">
      <dsp:nvSpPr>
        <dsp:cNvPr id="0" name=""/>
        <dsp:cNvSpPr/>
      </dsp:nvSpPr>
      <dsp:spPr>
        <a:xfrm>
          <a:off x="4351594" y="1646453"/>
          <a:ext cx="1887071" cy="800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b="0" i="0" kern="1200" baseline="0"/>
            <a:t>Trade-off: performance vs efficiency </a:t>
          </a:r>
          <a:endParaRPr lang="en-US" sz="1800" kern="1200"/>
        </a:p>
      </dsp:txBody>
      <dsp:txXfrm>
        <a:off x="4351594" y="1646453"/>
        <a:ext cx="1887071" cy="800575"/>
      </dsp:txXfrm>
    </dsp:sp>
    <dsp:sp modelId="{77234A8A-903B-4713-8284-54D8D23BE696}">
      <dsp:nvSpPr>
        <dsp:cNvPr id="0" name=""/>
        <dsp:cNvSpPr/>
      </dsp:nvSpPr>
      <dsp:spPr>
        <a:xfrm>
          <a:off x="6567474" y="1646453"/>
          <a:ext cx="800575" cy="80057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8715FD-0DA4-4FB9-B9B0-DF25A558927B}">
      <dsp:nvSpPr>
        <dsp:cNvPr id="0" name=""/>
        <dsp:cNvSpPr/>
      </dsp:nvSpPr>
      <dsp:spPr>
        <a:xfrm>
          <a:off x="6735595" y="1814573"/>
          <a:ext cx="464334" cy="46433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D9D41C6-26BE-42FB-87B5-D64D96F240E7}">
      <dsp:nvSpPr>
        <dsp:cNvPr id="0" name=""/>
        <dsp:cNvSpPr/>
      </dsp:nvSpPr>
      <dsp:spPr>
        <a:xfrm>
          <a:off x="7539602" y="1646453"/>
          <a:ext cx="1887071" cy="800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b="0" i="0" kern="1200" baseline="0"/>
            <a:t>Pruning helps but is expensive to tune </a:t>
          </a:r>
          <a:endParaRPr lang="en-US" sz="1800" kern="1200"/>
        </a:p>
      </dsp:txBody>
      <dsp:txXfrm>
        <a:off x="7539602" y="1646453"/>
        <a:ext cx="1887071" cy="8005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9E07E2-0BFD-4C00-B956-2FE166A50F5D}">
      <dsp:nvSpPr>
        <dsp:cNvPr id="0" name=""/>
        <dsp:cNvSpPr/>
      </dsp:nvSpPr>
      <dsp:spPr>
        <a:xfrm>
          <a:off x="745987" y="1082018"/>
          <a:ext cx="919942" cy="91994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C0F669B-5C5C-4D6A-9FB1-49F1F4AC4405}">
      <dsp:nvSpPr>
        <dsp:cNvPr id="0" name=""/>
        <dsp:cNvSpPr/>
      </dsp:nvSpPr>
      <dsp:spPr>
        <a:xfrm>
          <a:off x="183800" y="2291463"/>
          <a:ext cx="204431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pPr>
          <a:r>
            <a:rPr lang="en-US" sz="2200" b="0" i="0" kern="1200" baseline="0"/>
            <a:t>Bayesian surrogate model </a:t>
          </a:r>
          <a:endParaRPr lang="en-US" sz="2200" kern="1200"/>
        </a:p>
      </dsp:txBody>
      <dsp:txXfrm>
        <a:off x="183800" y="2291463"/>
        <a:ext cx="2044316" cy="720000"/>
      </dsp:txXfrm>
    </dsp:sp>
    <dsp:sp modelId="{00F0D425-13A7-445A-BC04-32FB4BF39948}">
      <dsp:nvSpPr>
        <dsp:cNvPr id="0" name=""/>
        <dsp:cNvSpPr/>
      </dsp:nvSpPr>
      <dsp:spPr>
        <a:xfrm>
          <a:off x="3148059" y="1082018"/>
          <a:ext cx="919942" cy="91994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E9EE915-5209-4890-87D7-A30753AA732F}">
      <dsp:nvSpPr>
        <dsp:cNvPr id="0" name=""/>
        <dsp:cNvSpPr/>
      </dsp:nvSpPr>
      <dsp:spPr>
        <a:xfrm>
          <a:off x="2585872" y="2291463"/>
          <a:ext cx="204431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pPr>
          <a:r>
            <a:rPr lang="en-US" sz="2200" b="0" i="0" kern="1200" baseline="0"/>
            <a:t>Predicts pruning outcomes </a:t>
          </a:r>
          <a:endParaRPr lang="en-US" sz="2200" kern="1200"/>
        </a:p>
      </dsp:txBody>
      <dsp:txXfrm>
        <a:off x="2585872" y="2291463"/>
        <a:ext cx="2044316" cy="720000"/>
      </dsp:txXfrm>
    </dsp:sp>
    <dsp:sp modelId="{E898EDB2-DE88-4250-B03D-10850F631BC3}">
      <dsp:nvSpPr>
        <dsp:cNvPr id="0" name=""/>
        <dsp:cNvSpPr/>
      </dsp:nvSpPr>
      <dsp:spPr>
        <a:xfrm>
          <a:off x="5550131" y="1082018"/>
          <a:ext cx="919942" cy="91994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E80384E-B616-4B33-84D0-888FA1688250}">
      <dsp:nvSpPr>
        <dsp:cNvPr id="0" name=""/>
        <dsp:cNvSpPr/>
      </dsp:nvSpPr>
      <dsp:spPr>
        <a:xfrm>
          <a:off x="4987944" y="2291463"/>
          <a:ext cx="204431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pPr>
          <a:r>
            <a:rPr lang="en-US" sz="2200" b="0" i="0" kern="1200" baseline="0"/>
            <a:t>Reduces experiments </a:t>
          </a:r>
          <a:endParaRPr lang="en-US" sz="2200" kern="1200"/>
        </a:p>
      </dsp:txBody>
      <dsp:txXfrm>
        <a:off x="4987944" y="2291463"/>
        <a:ext cx="2044316" cy="720000"/>
      </dsp:txXfrm>
    </dsp:sp>
    <dsp:sp modelId="{484622C7-FF9D-46B3-B53D-B60843F04FCE}">
      <dsp:nvSpPr>
        <dsp:cNvPr id="0" name=""/>
        <dsp:cNvSpPr/>
      </dsp:nvSpPr>
      <dsp:spPr>
        <a:xfrm>
          <a:off x="7952203" y="1082018"/>
          <a:ext cx="919942" cy="91994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2A460DF-0229-4067-879D-B4D7DFE08696}">
      <dsp:nvSpPr>
        <dsp:cNvPr id="0" name=""/>
        <dsp:cNvSpPr/>
      </dsp:nvSpPr>
      <dsp:spPr>
        <a:xfrm>
          <a:off x="7390016" y="2291463"/>
          <a:ext cx="204431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pPr>
          <a:r>
            <a:rPr lang="en-US" sz="2200" b="0" i="0" kern="1200" baseline="0"/>
            <a:t>Integrated in dashboard </a:t>
          </a:r>
          <a:endParaRPr lang="en-US" sz="2200" kern="1200"/>
        </a:p>
      </dsp:txBody>
      <dsp:txXfrm>
        <a:off x="7390016" y="2291463"/>
        <a:ext cx="2044316"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7CEDF3-7928-4476-8C37-6585701C5B11}">
      <dsp:nvSpPr>
        <dsp:cNvPr id="0" name=""/>
        <dsp:cNvSpPr/>
      </dsp:nvSpPr>
      <dsp:spPr>
        <a:xfrm>
          <a:off x="291840" y="823419"/>
          <a:ext cx="906064" cy="9060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636BE3-6846-4D03-9496-F47F546C6075}">
      <dsp:nvSpPr>
        <dsp:cNvPr id="0" name=""/>
        <dsp:cNvSpPr/>
      </dsp:nvSpPr>
      <dsp:spPr>
        <a:xfrm>
          <a:off x="484936" y="1016514"/>
          <a:ext cx="519873" cy="51987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19D7DEA-AAB2-423B-B926-AD0546C990A1}">
      <dsp:nvSpPr>
        <dsp:cNvPr id="0" name=""/>
        <dsp:cNvSpPr/>
      </dsp:nvSpPr>
      <dsp:spPr>
        <a:xfrm>
          <a:off x="2197" y="2011700"/>
          <a:ext cx="1485351" cy="594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i="0" kern="1200" baseline="0" dirty="0"/>
            <a:t>Cost of pruning and analysis</a:t>
          </a:r>
          <a:endParaRPr lang="en-US" sz="1400" kern="1200" dirty="0"/>
        </a:p>
      </dsp:txBody>
      <dsp:txXfrm>
        <a:off x="2197" y="2011700"/>
        <a:ext cx="1485351" cy="594140"/>
      </dsp:txXfrm>
    </dsp:sp>
    <dsp:sp modelId="{3419D1C3-0C7E-4D13-8F54-93787531B12A}">
      <dsp:nvSpPr>
        <dsp:cNvPr id="0" name=""/>
        <dsp:cNvSpPr/>
      </dsp:nvSpPr>
      <dsp:spPr>
        <a:xfrm>
          <a:off x="2037128" y="823419"/>
          <a:ext cx="906064" cy="9060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023E72-CC7A-47C4-ABA8-B27447CA0FA4}">
      <dsp:nvSpPr>
        <dsp:cNvPr id="0" name=""/>
        <dsp:cNvSpPr/>
      </dsp:nvSpPr>
      <dsp:spPr>
        <a:xfrm>
          <a:off x="2230224" y="1016514"/>
          <a:ext cx="519873" cy="51987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1E73FC-1D05-44BE-9519-CC4740014983}">
      <dsp:nvSpPr>
        <dsp:cNvPr id="0" name=""/>
        <dsp:cNvSpPr/>
      </dsp:nvSpPr>
      <dsp:spPr>
        <a:xfrm>
          <a:off x="1747485" y="2011700"/>
          <a:ext cx="1485351" cy="594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i="0" kern="1200" baseline="0"/>
            <a:t>Data &amp; privacy risks </a:t>
          </a:r>
          <a:endParaRPr lang="en-US" sz="1400" kern="1200"/>
        </a:p>
      </dsp:txBody>
      <dsp:txXfrm>
        <a:off x="1747485" y="2011700"/>
        <a:ext cx="1485351" cy="594140"/>
      </dsp:txXfrm>
    </dsp:sp>
    <dsp:sp modelId="{6E99EB37-28A0-427D-A671-E83BF9A66202}">
      <dsp:nvSpPr>
        <dsp:cNvPr id="0" name=""/>
        <dsp:cNvSpPr/>
      </dsp:nvSpPr>
      <dsp:spPr>
        <a:xfrm>
          <a:off x="3782416" y="823419"/>
          <a:ext cx="906064" cy="9060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8DDC0D-B9F6-46E4-9CEA-DC589941793A}">
      <dsp:nvSpPr>
        <dsp:cNvPr id="0" name=""/>
        <dsp:cNvSpPr/>
      </dsp:nvSpPr>
      <dsp:spPr>
        <a:xfrm>
          <a:off x="3975512" y="1016514"/>
          <a:ext cx="519873" cy="51987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E5B208-3461-4040-8BA1-3E5E1FA193EC}">
      <dsp:nvSpPr>
        <dsp:cNvPr id="0" name=""/>
        <dsp:cNvSpPr/>
      </dsp:nvSpPr>
      <dsp:spPr>
        <a:xfrm>
          <a:off x="3492773" y="2011700"/>
          <a:ext cx="1485351" cy="594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i="0" kern="1200" baseline="0"/>
            <a:t>Techno-solutionism </a:t>
          </a:r>
          <a:endParaRPr lang="en-US" sz="1400" kern="1200"/>
        </a:p>
      </dsp:txBody>
      <dsp:txXfrm>
        <a:off x="3492773" y="2011700"/>
        <a:ext cx="1485351" cy="594140"/>
      </dsp:txXfrm>
    </dsp:sp>
    <dsp:sp modelId="{BF911C59-6559-426C-88AE-5BA40A5F0AE8}">
      <dsp:nvSpPr>
        <dsp:cNvPr id="0" name=""/>
        <dsp:cNvSpPr/>
      </dsp:nvSpPr>
      <dsp:spPr>
        <a:xfrm>
          <a:off x="5527704" y="823419"/>
          <a:ext cx="906064" cy="9060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F269BB-A33D-4DEC-A7C4-E0668E622A36}">
      <dsp:nvSpPr>
        <dsp:cNvPr id="0" name=""/>
        <dsp:cNvSpPr/>
      </dsp:nvSpPr>
      <dsp:spPr>
        <a:xfrm>
          <a:off x="5720800" y="1016514"/>
          <a:ext cx="519873" cy="51987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FFE8710-74C4-446A-9B88-AD6C91E20B48}">
      <dsp:nvSpPr>
        <dsp:cNvPr id="0" name=""/>
        <dsp:cNvSpPr/>
      </dsp:nvSpPr>
      <dsp:spPr>
        <a:xfrm>
          <a:off x="5238061" y="2011700"/>
          <a:ext cx="1485351" cy="594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i="0" kern="1200" baseline="0"/>
            <a:t>Trust &amp; over-reliance </a:t>
          </a:r>
          <a:endParaRPr lang="en-US" sz="1400" kern="1200"/>
        </a:p>
      </dsp:txBody>
      <dsp:txXfrm>
        <a:off x="5238061" y="2011700"/>
        <a:ext cx="1485351" cy="594140"/>
      </dsp:txXfrm>
    </dsp:sp>
    <dsp:sp modelId="{4B15AACA-8287-493F-979F-9C6D00489B11}">
      <dsp:nvSpPr>
        <dsp:cNvPr id="0" name=""/>
        <dsp:cNvSpPr/>
      </dsp:nvSpPr>
      <dsp:spPr>
        <a:xfrm>
          <a:off x="7272992" y="823419"/>
          <a:ext cx="906064" cy="9060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614342-0A12-4A9C-9ACD-291B17E8E0EE}">
      <dsp:nvSpPr>
        <dsp:cNvPr id="0" name=""/>
        <dsp:cNvSpPr/>
      </dsp:nvSpPr>
      <dsp:spPr>
        <a:xfrm>
          <a:off x="7466088" y="1016514"/>
          <a:ext cx="519873" cy="51987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C3B59C-F4D9-4DC5-9D84-21859BD00DE7}">
      <dsp:nvSpPr>
        <dsp:cNvPr id="0" name=""/>
        <dsp:cNvSpPr/>
      </dsp:nvSpPr>
      <dsp:spPr>
        <a:xfrm>
          <a:off x="6983349" y="2011700"/>
          <a:ext cx="1485351" cy="594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i="0" kern="1200" baseline="0"/>
            <a:t>Equity &amp; access </a:t>
          </a:r>
          <a:endParaRPr lang="en-US" sz="1400" kern="1200"/>
        </a:p>
      </dsp:txBody>
      <dsp:txXfrm>
        <a:off x="6983349" y="2011700"/>
        <a:ext cx="1485351" cy="594140"/>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C206B0-DEAD-4A77-91F9-8DC02C8E621D}" type="datetimeFigureOut">
              <a:rPr lang="en-US" smtClean="0"/>
              <a:t>3/22/2026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3BD716-A2FE-4562-A88B-D53C8A4C375A}" type="slidenum">
              <a:rPr lang="en-US" smtClean="0"/>
              <a:t>‹#›</a:t>
            </a:fld>
            <a:endParaRPr lang="en-US"/>
          </a:p>
        </p:txBody>
      </p:sp>
    </p:spTree>
    <p:extLst>
      <p:ext uri="{BB962C8B-B14F-4D97-AF65-F5344CB8AC3E}">
        <p14:creationId xmlns:p14="http://schemas.microsoft.com/office/powerpoint/2010/main" val="2074374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project focuses on reducing the environmental impact of large language models by making pruning optimization more efficient using Bayesian surrogate models.</a:t>
            </a:r>
            <a:endParaRPr lang="en-US" dirty="0"/>
          </a:p>
        </p:txBody>
      </p:sp>
      <p:sp>
        <p:nvSpPr>
          <p:cNvPr id="4" name="Slide Number Placeholder 3"/>
          <p:cNvSpPr>
            <a:spLocks noGrp="1"/>
          </p:cNvSpPr>
          <p:nvPr>
            <p:ph type="sldNum" sz="quarter" idx="5"/>
          </p:nvPr>
        </p:nvSpPr>
        <p:spPr/>
        <p:txBody>
          <a:bodyPr/>
          <a:lstStyle/>
          <a:p>
            <a:fld id="{143BD716-A2FE-4562-A88B-D53C8A4C375A}" type="slidenum">
              <a:rPr lang="en-US" smtClean="0"/>
              <a:t>1</a:t>
            </a:fld>
            <a:endParaRPr lang="en-US"/>
          </a:p>
        </p:txBody>
      </p:sp>
    </p:spTree>
    <p:extLst>
      <p:ext uri="{BB962C8B-B14F-4D97-AF65-F5344CB8AC3E}">
        <p14:creationId xmlns:p14="http://schemas.microsoft.com/office/powerpoint/2010/main" val="1638827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LLMs are powerful but computationally expensive, especially during inference. Pruning can reduce this cost, but finding good configurations requires many experiments, which is inefficient and energy-intensive.</a:t>
            </a:r>
            <a:endParaRPr lang="en-US" dirty="0"/>
          </a:p>
        </p:txBody>
      </p:sp>
      <p:sp>
        <p:nvSpPr>
          <p:cNvPr id="4" name="Slide Number Placeholder 3"/>
          <p:cNvSpPr>
            <a:spLocks noGrp="1"/>
          </p:cNvSpPr>
          <p:nvPr>
            <p:ph type="sldNum" sz="quarter" idx="5"/>
          </p:nvPr>
        </p:nvSpPr>
        <p:spPr/>
        <p:txBody>
          <a:bodyPr/>
          <a:lstStyle/>
          <a:p>
            <a:fld id="{143BD716-A2FE-4562-A88B-D53C8A4C375A}" type="slidenum">
              <a:rPr lang="en-US" smtClean="0"/>
              <a:t>2</a:t>
            </a:fld>
            <a:endParaRPr lang="en-US"/>
          </a:p>
        </p:txBody>
      </p:sp>
    </p:spTree>
    <p:extLst>
      <p:ext uri="{BB962C8B-B14F-4D97-AF65-F5344CB8AC3E}">
        <p14:creationId xmlns:p14="http://schemas.microsoft.com/office/powerpoint/2010/main" val="1841326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system uses a surrogate model to predict performance for different pruning configurations. Bayesian optimization then selects which configurations to evaluate, reducing the number of experiments needed.</a:t>
            </a:r>
            <a:endParaRPr lang="en-US" dirty="0"/>
          </a:p>
        </p:txBody>
      </p:sp>
      <p:sp>
        <p:nvSpPr>
          <p:cNvPr id="4" name="Slide Number Placeholder 3"/>
          <p:cNvSpPr>
            <a:spLocks noGrp="1"/>
          </p:cNvSpPr>
          <p:nvPr>
            <p:ph type="sldNum" sz="quarter" idx="5"/>
          </p:nvPr>
        </p:nvSpPr>
        <p:spPr/>
        <p:txBody>
          <a:bodyPr/>
          <a:lstStyle/>
          <a:p>
            <a:fld id="{143BD716-A2FE-4562-A88B-D53C8A4C375A}" type="slidenum">
              <a:rPr lang="en-US" smtClean="0"/>
              <a:t>3</a:t>
            </a:fld>
            <a:endParaRPr lang="en-US"/>
          </a:p>
        </p:txBody>
      </p:sp>
    </p:spTree>
    <p:extLst>
      <p:ext uri="{BB962C8B-B14F-4D97-AF65-F5344CB8AC3E}">
        <p14:creationId xmlns:p14="http://schemas.microsoft.com/office/powerpoint/2010/main" val="28731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use perplexity to measure model performance and FLOPs as a proxy for computational cost. However, FLOPs are not always intuitive for users, so I will also explore more interpretable metrics like estimated energy consumption, CO₂ emissions, latency, or even cost. This is especially important for making the dashboard understandable and useful in practice.</a:t>
            </a:r>
            <a:endParaRPr lang="en-US" dirty="0"/>
          </a:p>
        </p:txBody>
      </p:sp>
      <p:sp>
        <p:nvSpPr>
          <p:cNvPr id="4" name="Slide Number Placeholder 3"/>
          <p:cNvSpPr>
            <a:spLocks noGrp="1"/>
          </p:cNvSpPr>
          <p:nvPr>
            <p:ph type="sldNum" sz="quarter" idx="5"/>
          </p:nvPr>
        </p:nvSpPr>
        <p:spPr/>
        <p:txBody>
          <a:bodyPr/>
          <a:lstStyle/>
          <a:p>
            <a:fld id="{143BD716-A2FE-4562-A88B-D53C8A4C375A}" type="slidenum">
              <a:rPr lang="en-US" smtClean="0"/>
              <a:t>4</a:t>
            </a:fld>
            <a:endParaRPr lang="en-US"/>
          </a:p>
        </p:txBody>
      </p:sp>
    </p:spTree>
    <p:extLst>
      <p:ext uri="{BB962C8B-B14F-4D97-AF65-F5344CB8AC3E}">
        <p14:creationId xmlns:p14="http://schemas.microsoft.com/office/powerpoint/2010/main" val="17710111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multiple stakeholder groups with different interests. Developers and dashboard users need clear insight into trade-offs between performance and efficiency. Organizations want to reduce operational costs. Researchers care about methodological validity and reproducibility. Infrastructure providers and large tech companies are concerned with compute demand and sustainability pressure. Finally, policymakers and environmental groups focus on long-term societal and environmental impact.</a:t>
            </a:r>
            <a:endParaRPr lang="en-US" dirty="0"/>
          </a:p>
        </p:txBody>
      </p:sp>
      <p:sp>
        <p:nvSpPr>
          <p:cNvPr id="4" name="Slide Number Placeholder 3"/>
          <p:cNvSpPr>
            <a:spLocks noGrp="1"/>
          </p:cNvSpPr>
          <p:nvPr>
            <p:ph type="sldNum" sz="quarter" idx="5"/>
          </p:nvPr>
        </p:nvSpPr>
        <p:spPr/>
        <p:txBody>
          <a:bodyPr/>
          <a:lstStyle/>
          <a:p>
            <a:fld id="{143BD716-A2FE-4562-A88B-D53C8A4C375A}" type="slidenum">
              <a:rPr lang="en-US" smtClean="0"/>
              <a:t>5</a:t>
            </a:fld>
            <a:endParaRPr lang="en-US"/>
          </a:p>
        </p:txBody>
      </p:sp>
    </p:spTree>
    <p:extLst>
      <p:ext uri="{BB962C8B-B14F-4D97-AF65-F5344CB8AC3E}">
        <p14:creationId xmlns:p14="http://schemas.microsoft.com/office/powerpoint/2010/main" val="3710159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project follows established AI ethics frameworks. The main values are sustainability, transparency in predictions, and maintaining human control over decisions</a:t>
            </a:r>
            <a:endParaRPr lang="en-US" dirty="0"/>
          </a:p>
        </p:txBody>
      </p:sp>
      <p:sp>
        <p:nvSpPr>
          <p:cNvPr id="4" name="Slide Number Placeholder 3"/>
          <p:cNvSpPr>
            <a:spLocks noGrp="1"/>
          </p:cNvSpPr>
          <p:nvPr>
            <p:ph type="sldNum" sz="quarter" idx="5"/>
          </p:nvPr>
        </p:nvSpPr>
        <p:spPr/>
        <p:txBody>
          <a:bodyPr/>
          <a:lstStyle/>
          <a:p>
            <a:fld id="{143BD716-A2FE-4562-A88B-D53C8A4C375A}" type="slidenum">
              <a:rPr lang="en-US" smtClean="0"/>
              <a:t>6</a:t>
            </a:fld>
            <a:endParaRPr lang="en-US"/>
          </a:p>
        </p:txBody>
      </p:sp>
    </p:spTree>
    <p:extLst>
      <p:ext uri="{BB962C8B-B14F-4D97-AF65-F5344CB8AC3E}">
        <p14:creationId xmlns:p14="http://schemas.microsoft.com/office/powerpoint/2010/main" val="32847813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several key ethical issues.</a:t>
            </a:r>
          </a:p>
          <a:p>
            <a:r>
              <a:rPr lang="en-GB" dirty="0"/>
              <a:t>First, the sustainability paradox: we use computation to reduce computation. Training surrogate models and running optimization still consumes energy, so the question is whether the savings actually outweigh the costs.</a:t>
            </a:r>
          </a:p>
          <a:p>
            <a:r>
              <a:rPr lang="en-GB" dirty="0"/>
              <a:t>Second, data risks: users upload models and datasets, which may contain sensitive or proprietary information.</a:t>
            </a:r>
          </a:p>
          <a:p>
            <a:r>
              <a:rPr lang="en-GB" dirty="0"/>
              <a:t>Third, techno-solutionism: this is a technical solution to what is partly a social and economic problem. Efficiency alone does not solve issues like overconsumption or governance.</a:t>
            </a:r>
          </a:p>
          <a:p>
            <a:r>
              <a:rPr lang="en-GB" dirty="0"/>
              <a:t>Fourth, trust: users might rely too heavily on the surrogate model’s predictions, even though they are approximations.</a:t>
            </a:r>
          </a:p>
          <a:p>
            <a:r>
              <a:rPr lang="en-GB" dirty="0"/>
              <a:t>Finally, equity: while efficiency can lower barriers, access to AI is still uneven globally, so benefits may not be equally distributed.</a:t>
            </a:r>
          </a:p>
        </p:txBody>
      </p:sp>
      <p:sp>
        <p:nvSpPr>
          <p:cNvPr id="4" name="Slide Number Placeholder 3"/>
          <p:cNvSpPr>
            <a:spLocks noGrp="1"/>
          </p:cNvSpPr>
          <p:nvPr>
            <p:ph type="sldNum" sz="quarter" idx="5"/>
          </p:nvPr>
        </p:nvSpPr>
        <p:spPr/>
        <p:txBody>
          <a:bodyPr/>
          <a:lstStyle/>
          <a:p>
            <a:fld id="{143BD716-A2FE-4562-A88B-D53C8A4C375A}" type="slidenum">
              <a:rPr lang="en-US" smtClean="0"/>
              <a:t>7</a:t>
            </a:fld>
            <a:endParaRPr lang="en-US"/>
          </a:p>
        </p:txBody>
      </p:sp>
    </p:spTree>
    <p:extLst>
      <p:ext uri="{BB962C8B-B14F-4D97-AF65-F5344CB8AC3E}">
        <p14:creationId xmlns:p14="http://schemas.microsoft.com/office/powerpoint/2010/main" val="34850420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system can reduce computational cost and improve transparency in AI optimization. However, there are also risks. Efficiency gains could lead to increased overall AI usage, known as the rebound effect. Predictions may not always be accurate, and real-world sustainability impact is difficult to measure.</a:t>
            </a:r>
          </a:p>
          <a:p>
            <a:r>
              <a:rPr lang="en-GB" dirty="0"/>
              <a:t>The key questions I want feedback on are whether the approach truly leads to net sustainability gains, how reliable the system needs to be for users to trust it, and how we define what is actually sustainable in this context.</a:t>
            </a:r>
          </a:p>
        </p:txBody>
      </p:sp>
      <p:sp>
        <p:nvSpPr>
          <p:cNvPr id="4" name="Slide Number Placeholder 3"/>
          <p:cNvSpPr>
            <a:spLocks noGrp="1"/>
          </p:cNvSpPr>
          <p:nvPr>
            <p:ph type="sldNum" sz="quarter" idx="5"/>
          </p:nvPr>
        </p:nvSpPr>
        <p:spPr/>
        <p:txBody>
          <a:bodyPr/>
          <a:lstStyle/>
          <a:p>
            <a:fld id="{143BD716-A2FE-4562-A88B-D53C8A4C375A}" type="slidenum">
              <a:rPr lang="en-US" smtClean="0"/>
              <a:t>8</a:t>
            </a:fld>
            <a:endParaRPr lang="en-US"/>
          </a:p>
        </p:txBody>
      </p:sp>
    </p:spTree>
    <p:extLst>
      <p:ext uri="{BB962C8B-B14F-4D97-AF65-F5344CB8AC3E}">
        <p14:creationId xmlns:p14="http://schemas.microsoft.com/office/powerpoint/2010/main" val="651785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30F6A52-0672-4443-904A-3DC5509CBBDF}"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A6B65-7369-4901-B3EA-7CCA42327BF8}" type="slidenum">
              <a:rPr lang="en-US" smtClean="0"/>
              <a:t>‹#›</a:t>
            </a:fld>
            <a:endParaRPr lang="en-US"/>
          </a:p>
        </p:txBody>
      </p:sp>
    </p:spTree>
    <p:extLst>
      <p:ext uri="{BB962C8B-B14F-4D97-AF65-F5344CB8AC3E}">
        <p14:creationId xmlns:p14="http://schemas.microsoft.com/office/powerpoint/2010/main" val="747781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0F6A52-0672-4443-904A-3DC5509CBBDF}"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A6B65-7369-4901-B3EA-7CCA42327BF8}" type="slidenum">
              <a:rPr lang="en-US" smtClean="0"/>
              <a:t>‹#›</a:t>
            </a:fld>
            <a:endParaRPr lang="en-US"/>
          </a:p>
        </p:txBody>
      </p:sp>
    </p:spTree>
    <p:extLst>
      <p:ext uri="{BB962C8B-B14F-4D97-AF65-F5344CB8AC3E}">
        <p14:creationId xmlns:p14="http://schemas.microsoft.com/office/powerpoint/2010/main" val="2513210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0F6A52-0672-4443-904A-3DC5509CBBDF}"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A6B65-7369-4901-B3EA-7CCA42327BF8}" type="slidenum">
              <a:rPr lang="en-US" smtClean="0"/>
              <a:t>‹#›</a:t>
            </a:fld>
            <a:endParaRPr lang="en-US"/>
          </a:p>
        </p:txBody>
      </p:sp>
    </p:spTree>
    <p:extLst>
      <p:ext uri="{BB962C8B-B14F-4D97-AF65-F5344CB8AC3E}">
        <p14:creationId xmlns:p14="http://schemas.microsoft.com/office/powerpoint/2010/main" val="2436264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30F6A52-0672-4443-904A-3DC5509CBBDF}" type="datetimeFigureOut">
              <a:rPr lang="en-US" smtClean="0"/>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3A6B65-7369-4901-B3EA-7CCA42327BF8}" type="slidenum">
              <a:rPr lang="en-US" smtClean="0"/>
              <a:t>‹#›</a:t>
            </a:fld>
            <a:endParaRPr lang="en-US"/>
          </a:p>
        </p:txBody>
      </p:sp>
    </p:spTree>
    <p:extLst>
      <p:ext uri="{BB962C8B-B14F-4D97-AF65-F5344CB8AC3E}">
        <p14:creationId xmlns:p14="http://schemas.microsoft.com/office/powerpoint/2010/main" val="1403205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30F6A52-0672-4443-904A-3DC5509CBBDF}" type="datetimeFigureOut">
              <a:rPr lang="en-US" smtClean="0"/>
              <a:t>3/22/2026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3A6B65-7369-4901-B3EA-7CCA42327BF8}" type="slidenum">
              <a:rPr lang="en-US" smtClean="0"/>
              <a:t>‹#›</a:t>
            </a:fld>
            <a:endParaRPr lang="en-US"/>
          </a:p>
        </p:txBody>
      </p:sp>
    </p:spTree>
    <p:extLst>
      <p:ext uri="{BB962C8B-B14F-4D97-AF65-F5344CB8AC3E}">
        <p14:creationId xmlns:p14="http://schemas.microsoft.com/office/powerpoint/2010/main" val="646241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30F6A52-0672-4443-904A-3DC5509CBBDF}" type="datetimeFigureOut">
              <a:rPr lang="en-US" smtClean="0"/>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3A6B65-7369-4901-B3EA-7CCA42327BF8}" type="slidenum">
              <a:rPr lang="en-US" smtClean="0"/>
              <a:t>‹#›</a:t>
            </a:fld>
            <a:endParaRPr lang="en-US"/>
          </a:p>
        </p:txBody>
      </p:sp>
    </p:spTree>
    <p:extLst>
      <p:ext uri="{BB962C8B-B14F-4D97-AF65-F5344CB8AC3E}">
        <p14:creationId xmlns:p14="http://schemas.microsoft.com/office/powerpoint/2010/main" val="3940310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0F6A52-0672-4443-904A-3DC5509CBBDF}" type="datetimeFigureOut">
              <a:rPr lang="en-US" smtClean="0"/>
              <a:t>3/22/2026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3A6B65-7369-4901-B3EA-7CCA42327BF8}" type="slidenum">
              <a:rPr lang="en-US" smtClean="0"/>
              <a:t>‹#›</a:t>
            </a:fld>
            <a:endParaRPr lang="en-US"/>
          </a:p>
        </p:txBody>
      </p:sp>
    </p:spTree>
    <p:extLst>
      <p:ext uri="{BB962C8B-B14F-4D97-AF65-F5344CB8AC3E}">
        <p14:creationId xmlns:p14="http://schemas.microsoft.com/office/powerpoint/2010/main" val="3546624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0F6A52-0672-4443-904A-3DC5509CBBDF}" type="datetimeFigureOut">
              <a:rPr lang="en-US" smtClean="0"/>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3A6B65-7369-4901-B3EA-7CCA42327BF8}" type="slidenum">
              <a:rPr lang="en-US" smtClean="0"/>
              <a:t>‹#›</a:t>
            </a:fld>
            <a:endParaRPr lang="en-US"/>
          </a:p>
        </p:txBody>
      </p:sp>
    </p:spTree>
    <p:extLst>
      <p:ext uri="{BB962C8B-B14F-4D97-AF65-F5344CB8AC3E}">
        <p14:creationId xmlns:p14="http://schemas.microsoft.com/office/powerpoint/2010/main" val="2302842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0F6A52-0672-4443-904A-3DC5509CBBDF}" type="datetimeFigureOut">
              <a:rPr lang="en-US" smtClean="0"/>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3A6B65-7369-4901-B3EA-7CCA42327BF8}" type="slidenum">
              <a:rPr lang="en-US" smtClean="0"/>
              <a:t>‹#›</a:t>
            </a:fld>
            <a:endParaRPr lang="en-US"/>
          </a:p>
        </p:txBody>
      </p:sp>
    </p:spTree>
    <p:extLst>
      <p:ext uri="{BB962C8B-B14F-4D97-AF65-F5344CB8AC3E}">
        <p14:creationId xmlns:p14="http://schemas.microsoft.com/office/powerpoint/2010/main" val="2028905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0F6A52-0672-4443-904A-3DC5509CBBDF}"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A6B65-7369-4901-B3EA-7CCA42327BF8}" type="slidenum">
              <a:rPr lang="en-US" smtClean="0"/>
              <a:t>‹#›</a:t>
            </a:fld>
            <a:endParaRPr lang="en-US"/>
          </a:p>
        </p:txBody>
      </p:sp>
    </p:spTree>
    <p:extLst>
      <p:ext uri="{BB962C8B-B14F-4D97-AF65-F5344CB8AC3E}">
        <p14:creationId xmlns:p14="http://schemas.microsoft.com/office/powerpoint/2010/main" val="3114512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0F6A52-0672-4443-904A-3DC5509CBBDF}"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A6B65-7369-4901-B3EA-7CCA42327BF8}"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8236402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0F6A52-0672-4443-904A-3DC5509CBBDF}"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A6B65-7369-4901-B3EA-7CCA42327BF8}" type="slidenum">
              <a:rPr lang="en-US" smtClean="0"/>
              <a:t>‹#›</a:t>
            </a:fld>
            <a:endParaRPr lang="en-US"/>
          </a:p>
        </p:txBody>
      </p:sp>
    </p:spTree>
    <p:extLst>
      <p:ext uri="{BB962C8B-B14F-4D97-AF65-F5344CB8AC3E}">
        <p14:creationId xmlns:p14="http://schemas.microsoft.com/office/powerpoint/2010/main" val="37109925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0F6A52-0672-4443-904A-3DC5509CBBDF}"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A6B65-7369-4901-B3EA-7CCA42327BF8}"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691162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0F6A52-0672-4443-904A-3DC5509CBBDF}"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A6B65-7369-4901-B3EA-7CCA42327BF8}" type="slidenum">
              <a:rPr lang="en-US" smtClean="0"/>
              <a:t>‹#›</a:t>
            </a:fld>
            <a:endParaRPr lang="en-US"/>
          </a:p>
        </p:txBody>
      </p:sp>
    </p:spTree>
    <p:extLst>
      <p:ext uri="{BB962C8B-B14F-4D97-AF65-F5344CB8AC3E}">
        <p14:creationId xmlns:p14="http://schemas.microsoft.com/office/powerpoint/2010/main" val="22809430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0F6A52-0672-4443-904A-3DC5509CBBDF}"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A6B65-7369-4901-B3EA-7CCA42327BF8}" type="slidenum">
              <a:rPr lang="en-US" smtClean="0"/>
              <a:t>‹#›</a:t>
            </a:fld>
            <a:endParaRPr lang="en-US"/>
          </a:p>
        </p:txBody>
      </p:sp>
    </p:spTree>
    <p:extLst>
      <p:ext uri="{BB962C8B-B14F-4D97-AF65-F5344CB8AC3E}">
        <p14:creationId xmlns:p14="http://schemas.microsoft.com/office/powerpoint/2010/main" val="23352082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0F6A52-0672-4443-904A-3DC5509CBBDF}"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A6B65-7369-4901-B3EA-7CCA42327BF8}" type="slidenum">
              <a:rPr lang="en-US" smtClean="0"/>
              <a:t>‹#›</a:t>
            </a:fld>
            <a:endParaRPr lang="en-US"/>
          </a:p>
        </p:txBody>
      </p:sp>
    </p:spTree>
    <p:extLst>
      <p:ext uri="{BB962C8B-B14F-4D97-AF65-F5344CB8AC3E}">
        <p14:creationId xmlns:p14="http://schemas.microsoft.com/office/powerpoint/2010/main" val="2315142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30F6A52-0672-4443-904A-3DC5509CBBDF}" type="datetimeFigureOut">
              <a:rPr lang="en-US" smtClean="0"/>
              <a:t>3/22/2026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53A6B65-7369-4901-B3EA-7CCA42327BF8}" type="slidenum">
              <a:rPr lang="en-US" smtClean="0"/>
              <a:t>‹#›</a:t>
            </a:fld>
            <a:endParaRPr lang="en-US"/>
          </a:p>
        </p:txBody>
      </p:sp>
    </p:spTree>
    <p:extLst>
      <p:ext uri="{BB962C8B-B14F-4D97-AF65-F5344CB8AC3E}">
        <p14:creationId xmlns:p14="http://schemas.microsoft.com/office/powerpoint/2010/main" val="34768778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783C067-F8BF-4755-B516-8A0CD74C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66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2ED796EC-E7FF-46DB-B912-FB08BF12A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Isosceles Triangle 11">
            <a:extLst>
              <a:ext uri="{FF2B5EF4-FFF2-40B4-BE49-F238E27FC236}">
                <a16:creationId xmlns:a16="http://schemas.microsoft.com/office/drawing/2014/main" id="{549A2DAB-B431-487D-95AD-BB0FECB49E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alpha val="88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7">
            <a:extLst>
              <a:ext uri="{FF2B5EF4-FFF2-40B4-BE49-F238E27FC236}">
                <a16:creationId xmlns:a16="http://schemas.microsoft.com/office/drawing/2014/main" id="{0819F787-32B4-46A8-BC57-C6571BCEE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6" name="Straight Connector 15">
            <a:extLst>
              <a:ext uri="{FF2B5EF4-FFF2-40B4-BE49-F238E27FC236}">
                <a16:creationId xmlns:a16="http://schemas.microsoft.com/office/drawing/2014/main" id="{C5ECDEE1-7093-418F-9CF5-24EEB115C1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045062AF-EB11-4651-BC4A-4DA21768D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Subtitle 2">
            <a:extLst>
              <a:ext uri="{FF2B5EF4-FFF2-40B4-BE49-F238E27FC236}">
                <a16:creationId xmlns:a16="http://schemas.microsoft.com/office/drawing/2014/main" id="{838F524D-DB58-9798-A59D-09CEB6EAB149}"/>
              </a:ext>
            </a:extLst>
          </p:cNvPr>
          <p:cNvSpPr>
            <a:spLocks noGrp="1"/>
          </p:cNvSpPr>
          <p:nvPr>
            <p:ph type="subTitle" idx="1"/>
          </p:nvPr>
        </p:nvSpPr>
        <p:spPr>
          <a:xfrm>
            <a:off x="1507067" y="4050833"/>
            <a:ext cx="7766936" cy="1096899"/>
          </a:xfrm>
        </p:spPr>
        <p:txBody>
          <a:bodyPr>
            <a:normAutofit/>
          </a:bodyPr>
          <a:lstStyle/>
          <a:p>
            <a:endParaRPr lang="en-US" dirty="0"/>
          </a:p>
        </p:txBody>
      </p:sp>
      <p:sp>
        <p:nvSpPr>
          <p:cNvPr id="2" name="Title 1">
            <a:extLst>
              <a:ext uri="{FF2B5EF4-FFF2-40B4-BE49-F238E27FC236}">
                <a16:creationId xmlns:a16="http://schemas.microsoft.com/office/drawing/2014/main" id="{AE5A1C67-E1DE-A7BD-C890-836223C7B99C}"/>
              </a:ext>
            </a:extLst>
          </p:cNvPr>
          <p:cNvSpPr>
            <a:spLocks noGrp="1"/>
          </p:cNvSpPr>
          <p:nvPr>
            <p:ph type="ctrTitle"/>
          </p:nvPr>
        </p:nvSpPr>
        <p:spPr>
          <a:xfrm>
            <a:off x="1507067" y="1397000"/>
            <a:ext cx="7766936" cy="2653836"/>
          </a:xfrm>
        </p:spPr>
        <p:txBody>
          <a:bodyPr>
            <a:normAutofit/>
          </a:bodyPr>
          <a:lstStyle/>
          <a:p>
            <a:r>
              <a:rPr lang="en-GB" sz="5000"/>
              <a:t>Sustainable optimization of LLMs using Bayesian surrogate-based pruning</a:t>
            </a:r>
            <a:endParaRPr lang="en-US" sz="5000"/>
          </a:p>
        </p:txBody>
      </p:sp>
    </p:spTree>
    <p:extLst>
      <p:ext uri="{BB962C8B-B14F-4D97-AF65-F5344CB8AC3E}">
        <p14:creationId xmlns:p14="http://schemas.microsoft.com/office/powerpoint/2010/main" val="2440637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0AA3EC-511C-C66E-1DEE-BEFDF2FF612D}"/>
              </a:ext>
            </a:extLst>
          </p:cNvPr>
          <p:cNvSpPr>
            <a:spLocks noGrp="1"/>
          </p:cNvSpPr>
          <p:nvPr>
            <p:ph type="title"/>
          </p:nvPr>
        </p:nvSpPr>
        <p:spPr>
          <a:xfrm>
            <a:off x="1286933" y="609600"/>
            <a:ext cx="10197494" cy="1099457"/>
          </a:xfrm>
        </p:spPr>
        <p:txBody>
          <a:bodyPr>
            <a:normAutofit/>
          </a:bodyPr>
          <a:lstStyle/>
          <a:p>
            <a:r>
              <a:rPr lang="en-GB" dirty="0"/>
              <a:t>Context &amp; Motivation</a:t>
            </a:r>
            <a:endParaRPr lang="en-US" dirty="0"/>
          </a:p>
        </p:txBody>
      </p:sp>
      <p:sp>
        <p:nvSpPr>
          <p:cNvPr id="13" name="Isosceles Triangle 12">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7" name="Rectangle 2">
            <a:extLst>
              <a:ext uri="{FF2B5EF4-FFF2-40B4-BE49-F238E27FC236}">
                <a16:creationId xmlns:a16="http://schemas.microsoft.com/office/drawing/2014/main" id="{880DB3AA-66AB-E1C8-F47D-876A4BC3B126}"/>
              </a:ext>
            </a:extLst>
          </p:cNvPr>
          <p:cNvGraphicFramePr>
            <a:graphicFrameLocks noGrp="1"/>
          </p:cNvGraphicFramePr>
          <p:nvPr>
            <p:ph idx="1"/>
            <p:extLst>
              <p:ext uri="{D42A27DB-BD31-4B8C-83A1-F6EECF244321}">
                <p14:modId xmlns:p14="http://schemas.microsoft.com/office/powerpoint/2010/main" val="1561435989"/>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86690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AE514A-72BF-A35A-1F51-C7B6C2E4DB2D}"/>
              </a:ext>
            </a:extLst>
          </p:cNvPr>
          <p:cNvSpPr>
            <a:spLocks noGrp="1"/>
          </p:cNvSpPr>
          <p:nvPr>
            <p:ph type="title"/>
          </p:nvPr>
        </p:nvSpPr>
        <p:spPr>
          <a:xfrm>
            <a:off x="1286933" y="609600"/>
            <a:ext cx="10197494" cy="1099457"/>
          </a:xfrm>
        </p:spPr>
        <p:txBody>
          <a:bodyPr>
            <a:normAutofit/>
          </a:bodyPr>
          <a:lstStyle/>
          <a:p>
            <a:r>
              <a:rPr lang="en-GB" dirty="0"/>
              <a:t>Proposed Solution (AI System)</a:t>
            </a:r>
            <a:endParaRPr lang="en-US" dirty="0"/>
          </a:p>
        </p:txBody>
      </p:sp>
      <p:sp>
        <p:nvSpPr>
          <p:cNvPr id="12" name="Isosceles Triangle 11">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6" name="Rectangle 1">
            <a:extLst>
              <a:ext uri="{FF2B5EF4-FFF2-40B4-BE49-F238E27FC236}">
                <a16:creationId xmlns:a16="http://schemas.microsoft.com/office/drawing/2014/main" id="{FA359F10-3A2D-98BB-819C-20A565D769FC}"/>
              </a:ext>
            </a:extLst>
          </p:cNvPr>
          <p:cNvGraphicFramePr>
            <a:graphicFrameLocks noGrp="1"/>
          </p:cNvGraphicFramePr>
          <p:nvPr>
            <p:ph idx="1"/>
            <p:extLst>
              <p:ext uri="{D42A27DB-BD31-4B8C-83A1-F6EECF244321}">
                <p14:modId xmlns:p14="http://schemas.microsoft.com/office/powerpoint/2010/main" val="3428914023"/>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94003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426564-85C6-7FA0-B9BE-17893FCCE901}"/>
              </a:ext>
            </a:extLst>
          </p:cNvPr>
          <p:cNvSpPr>
            <a:spLocks noGrp="1"/>
          </p:cNvSpPr>
          <p:nvPr>
            <p:ph type="title"/>
          </p:nvPr>
        </p:nvSpPr>
        <p:spPr>
          <a:xfrm>
            <a:off x="1333502" y="609600"/>
            <a:ext cx="8596668" cy="1320800"/>
          </a:xfrm>
        </p:spPr>
        <p:txBody>
          <a:bodyPr>
            <a:normAutofit/>
          </a:bodyPr>
          <a:lstStyle/>
          <a:p>
            <a:r>
              <a:rPr lang="en-GB"/>
              <a:t>Dataset &amp; Model Choices</a:t>
            </a:r>
            <a:endParaRPr lang="en-US" dirty="0"/>
          </a:p>
        </p:txBody>
      </p:sp>
      <p:sp>
        <p:nvSpPr>
          <p:cNvPr id="12" name="Isosceles Triangle 11">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 name="Rectangle 2">
            <a:extLst>
              <a:ext uri="{FF2B5EF4-FFF2-40B4-BE49-F238E27FC236}">
                <a16:creationId xmlns:a16="http://schemas.microsoft.com/office/drawing/2014/main" id="{AEF4FB71-6230-F325-A85E-4F12B43C01CE}"/>
              </a:ext>
            </a:extLst>
          </p:cNvPr>
          <p:cNvSpPr>
            <a:spLocks noGrp="1" noChangeArrowheads="1"/>
          </p:cNvSpPr>
          <p:nvPr>
            <p:ph idx="1"/>
          </p:nvPr>
        </p:nvSpPr>
        <p:spPr bwMode="auto">
          <a:xfrm>
            <a:off x="1333502" y="2160589"/>
            <a:ext cx="8596668" cy="388077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r>
              <a:rPr lang="en-GB" dirty="0"/>
              <a:t>Dataset: WikiText-2 </a:t>
            </a:r>
          </a:p>
          <a:p>
            <a:r>
              <a:rPr lang="en-GB" dirty="0"/>
              <a:t>Models: OPT-350M, GPT-2, Phi-2 </a:t>
            </a:r>
          </a:p>
          <a:p>
            <a:pPr marL="0" indent="0">
              <a:buNone/>
            </a:pPr>
            <a:endParaRPr lang="en-GB" b="1" dirty="0"/>
          </a:p>
          <a:p>
            <a:pPr marL="0" indent="0">
              <a:buNone/>
            </a:pPr>
            <a:r>
              <a:rPr lang="en-GB" b="1" dirty="0"/>
              <a:t>Metrics</a:t>
            </a:r>
            <a:endParaRPr lang="en-GB" dirty="0"/>
          </a:p>
          <a:p>
            <a:r>
              <a:rPr lang="en-GB" dirty="0"/>
              <a:t>Perplexity (performance) </a:t>
            </a:r>
          </a:p>
          <a:p>
            <a:r>
              <a:rPr lang="en-GB" dirty="0"/>
              <a:t>FLOPs (compute proxy) </a:t>
            </a:r>
          </a:p>
          <a:p>
            <a:pPr lvl="1"/>
            <a:r>
              <a:rPr lang="en-GB" dirty="0"/>
              <a:t>exploring: </a:t>
            </a:r>
          </a:p>
          <a:p>
            <a:pPr lvl="1"/>
            <a:r>
              <a:rPr lang="en-GB" dirty="0"/>
              <a:t>energy (kWh) </a:t>
            </a:r>
          </a:p>
          <a:p>
            <a:pPr lvl="1"/>
            <a:r>
              <a:rPr lang="en-GB" dirty="0"/>
              <a:t>CO₂ estimates </a:t>
            </a:r>
          </a:p>
          <a:p>
            <a:pPr lvl="1"/>
            <a:r>
              <a:rPr lang="en-GB" dirty="0"/>
              <a:t>latency / cost</a:t>
            </a:r>
          </a:p>
        </p:txBody>
      </p:sp>
      <p:sp>
        <p:nvSpPr>
          <p:cNvPr id="14" name="Isosceles Triangle 13">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441066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087102-9F4C-8816-38C8-48FE46D8A676}"/>
              </a:ext>
            </a:extLst>
          </p:cNvPr>
          <p:cNvSpPr>
            <a:spLocks noGrp="1"/>
          </p:cNvSpPr>
          <p:nvPr>
            <p:ph type="title"/>
          </p:nvPr>
        </p:nvSpPr>
        <p:spPr>
          <a:xfrm>
            <a:off x="1333502" y="609600"/>
            <a:ext cx="8596668" cy="1320800"/>
          </a:xfrm>
        </p:spPr>
        <p:txBody>
          <a:bodyPr>
            <a:normAutofit/>
          </a:bodyPr>
          <a:lstStyle/>
          <a:p>
            <a:r>
              <a:rPr lang="en-GB" dirty="0"/>
              <a:t>Stakeholders</a:t>
            </a:r>
            <a:endParaRPr lang="en-US" dirty="0"/>
          </a:p>
        </p:txBody>
      </p:sp>
      <p:sp>
        <p:nvSpPr>
          <p:cNvPr id="39" name="Isosceles Triangle 38">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 name="Rectangle 2">
            <a:extLst>
              <a:ext uri="{FF2B5EF4-FFF2-40B4-BE49-F238E27FC236}">
                <a16:creationId xmlns:a16="http://schemas.microsoft.com/office/drawing/2014/main" id="{81A0558A-ADE7-4000-A4F2-93B1B4662947}"/>
              </a:ext>
            </a:extLst>
          </p:cNvPr>
          <p:cNvSpPr>
            <a:spLocks noGrp="1" noChangeArrowheads="1"/>
          </p:cNvSpPr>
          <p:nvPr>
            <p:ph idx="1"/>
          </p:nvPr>
        </p:nvSpPr>
        <p:spPr bwMode="auto">
          <a:xfrm>
            <a:off x="1333502" y="2160589"/>
            <a:ext cx="8596668" cy="388077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None/>
              <a:tabLst/>
            </a:pPr>
            <a:r>
              <a:rPr kumimoji="0" lang="en-US" altLang="en-US" b="1" i="0" u="none" strike="noStrike" cap="none" normalizeH="0" baseline="0" dirty="0">
                <a:ln>
                  <a:noFill/>
                </a:ln>
                <a:effectLst/>
                <a:latin typeface="Arial" panose="020B0604020202020204" pitchFamily="34" charset="0"/>
              </a:rPr>
              <a:t>Developers &amp; dashboard users</a:t>
            </a:r>
            <a:r>
              <a:rPr kumimoji="0" lang="en-US" altLang="en-US" b="0" i="0" u="none" strike="noStrike" cap="none" normalizeH="0" baseline="0" dirty="0">
                <a:ln>
                  <a:noFill/>
                </a:ln>
                <a:effectLst/>
                <a:latin typeface="Arial" panose="020B0604020202020204" pitchFamily="34" charset="0"/>
              </a:rPr>
              <a:t> </a:t>
            </a:r>
          </a:p>
          <a:p>
            <a:pPr marL="400050" lvl="1" indent="0" defTabSz="914400" eaLnBrk="0" fontAlgn="base" hangingPunct="0">
              <a:spcBef>
                <a:spcPct val="0"/>
              </a:spcBef>
              <a:spcAft>
                <a:spcPts val="600"/>
              </a:spcAft>
              <a:buClrTx/>
              <a:buSzTx/>
              <a:buNone/>
            </a:pPr>
            <a:r>
              <a:rPr kumimoji="0" lang="en-US" altLang="en-US" b="0" i="0" u="none" strike="noStrike" cap="none" normalizeH="0" baseline="0" dirty="0">
                <a:ln>
                  <a:noFill/>
                </a:ln>
                <a:effectLst/>
                <a:latin typeface="Arial" panose="020B0604020202020204" pitchFamily="34" charset="0"/>
              </a:rPr>
              <a:t>need insight into performance–efficiency trade-offs </a:t>
            </a:r>
          </a:p>
          <a:p>
            <a:pPr marL="0" marR="0" lvl="0" indent="0" defTabSz="914400" rtl="0" eaLnBrk="0" fontAlgn="base" latinLnBrk="0" hangingPunct="0">
              <a:spcBef>
                <a:spcPct val="0"/>
              </a:spcBef>
              <a:spcAft>
                <a:spcPts val="600"/>
              </a:spcAft>
              <a:buClrTx/>
              <a:buSzTx/>
              <a:buNone/>
              <a:tabLst/>
            </a:pPr>
            <a:r>
              <a:rPr kumimoji="0" lang="en-US" altLang="en-US" b="1" i="0" u="none" strike="noStrike" cap="none" normalizeH="0" baseline="0" dirty="0">
                <a:ln>
                  <a:noFill/>
                </a:ln>
                <a:effectLst/>
                <a:latin typeface="Arial" panose="020B0604020202020204" pitchFamily="34" charset="0"/>
              </a:rPr>
              <a:t>Organizations / startups</a:t>
            </a:r>
            <a:r>
              <a:rPr kumimoji="0" lang="en-US" altLang="en-US" b="0" i="0" u="none" strike="noStrike" cap="none" normalizeH="0" baseline="0" dirty="0">
                <a:ln>
                  <a:noFill/>
                </a:ln>
                <a:effectLst/>
                <a:latin typeface="Arial" panose="020B0604020202020204" pitchFamily="34" charset="0"/>
              </a:rPr>
              <a:t> </a:t>
            </a:r>
          </a:p>
          <a:p>
            <a:pPr marL="400050" lvl="1" indent="0" defTabSz="914400" eaLnBrk="0" fontAlgn="base" hangingPunct="0">
              <a:spcBef>
                <a:spcPct val="0"/>
              </a:spcBef>
              <a:spcAft>
                <a:spcPts val="600"/>
              </a:spcAft>
              <a:buClrTx/>
              <a:buSzTx/>
              <a:buNone/>
            </a:pPr>
            <a:r>
              <a:rPr kumimoji="0" lang="en-US" altLang="en-US" b="0" i="0" u="none" strike="noStrike" cap="none" normalizeH="0" baseline="0" dirty="0">
                <a:ln>
                  <a:noFill/>
                </a:ln>
                <a:effectLst/>
                <a:latin typeface="Arial" panose="020B0604020202020204" pitchFamily="34" charset="0"/>
              </a:rPr>
              <a:t>reduce cost &amp; improve sustainability </a:t>
            </a:r>
          </a:p>
          <a:p>
            <a:pPr marL="0" marR="0" lvl="0" indent="0" defTabSz="914400" rtl="0" eaLnBrk="0" fontAlgn="base" latinLnBrk="0" hangingPunct="0">
              <a:spcBef>
                <a:spcPct val="0"/>
              </a:spcBef>
              <a:spcAft>
                <a:spcPts val="600"/>
              </a:spcAft>
              <a:buClrTx/>
              <a:buSzTx/>
              <a:buNone/>
              <a:tabLst/>
            </a:pPr>
            <a:r>
              <a:rPr kumimoji="0" lang="en-US" altLang="en-US" b="1" i="0" u="none" strike="noStrike" cap="none" normalizeH="0" baseline="0" dirty="0">
                <a:ln>
                  <a:noFill/>
                </a:ln>
                <a:effectLst/>
                <a:latin typeface="Arial" panose="020B0604020202020204" pitchFamily="34" charset="0"/>
              </a:rPr>
              <a:t>Researchers</a:t>
            </a:r>
            <a:r>
              <a:rPr kumimoji="0" lang="en-US" altLang="en-US" b="0" i="0" u="none" strike="noStrike" cap="none" normalizeH="0" baseline="0" dirty="0">
                <a:ln>
                  <a:noFill/>
                </a:ln>
                <a:effectLst/>
                <a:latin typeface="Arial" panose="020B0604020202020204" pitchFamily="34" charset="0"/>
              </a:rPr>
              <a:t> </a:t>
            </a:r>
          </a:p>
          <a:p>
            <a:pPr marL="400050" lvl="1" indent="0" defTabSz="914400" eaLnBrk="0" fontAlgn="base" hangingPunct="0">
              <a:spcBef>
                <a:spcPct val="0"/>
              </a:spcBef>
              <a:spcAft>
                <a:spcPts val="600"/>
              </a:spcAft>
              <a:buClrTx/>
              <a:buSzTx/>
              <a:buNone/>
            </a:pPr>
            <a:r>
              <a:rPr kumimoji="0" lang="en-US" altLang="en-US" b="0" i="0" u="none" strike="noStrike" cap="none" normalizeH="0" baseline="0" dirty="0">
                <a:ln>
                  <a:noFill/>
                </a:ln>
                <a:effectLst/>
                <a:latin typeface="Arial" panose="020B0604020202020204" pitchFamily="34" charset="0"/>
              </a:rPr>
              <a:t>need valid, reproducible methods </a:t>
            </a:r>
          </a:p>
          <a:p>
            <a:pPr marL="0" marR="0" lvl="0" indent="0" defTabSz="914400" rtl="0" eaLnBrk="0" fontAlgn="base" latinLnBrk="0" hangingPunct="0">
              <a:spcBef>
                <a:spcPct val="0"/>
              </a:spcBef>
              <a:spcAft>
                <a:spcPts val="600"/>
              </a:spcAft>
              <a:buClrTx/>
              <a:buSzTx/>
              <a:buNone/>
              <a:tabLst/>
            </a:pPr>
            <a:r>
              <a:rPr kumimoji="0" lang="en-US" altLang="en-US" b="1" i="0" u="none" strike="noStrike" cap="none" normalizeH="0" baseline="0" dirty="0">
                <a:ln>
                  <a:noFill/>
                </a:ln>
                <a:effectLst/>
                <a:latin typeface="Arial" panose="020B0604020202020204" pitchFamily="34" charset="0"/>
              </a:rPr>
              <a:t>Infrastructure &amp; Big Tech</a:t>
            </a:r>
            <a:r>
              <a:rPr kumimoji="0" lang="en-US" altLang="en-US" b="0" i="0" u="none" strike="noStrike" cap="none" normalizeH="0" baseline="0" dirty="0">
                <a:ln>
                  <a:noFill/>
                </a:ln>
                <a:effectLst/>
                <a:latin typeface="Arial" panose="020B0604020202020204" pitchFamily="34" charset="0"/>
              </a:rPr>
              <a:t> </a:t>
            </a:r>
          </a:p>
          <a:p>
            <a:pPr marL="400050" lvl="1" indent="0" defTabSz="914400" eaLnBrk="0" fontAlgn="base" hangingPunct="0">
              <a:spcBef>
                <a:spcPct val="0"/>
              </a:spcBef>
              <a:spcAft>
                <a:spcPts val="600"/>
              </a:spcAft>
              <a:buClrTx/>
              <a:buSzTx/>
              <a:buNone/>
            </a:pPr>
            <a:r>
              <a:rPr kumimoji="0" lang="en-US" altLang="en-US" b="0" i="0" u="none" strike="noStrike" cap="none" normalizeH="0" baseline="0" dirty="0">
                <a:ln>
                  <a:noFill/>
                </a:ln>
                <a:effectLst/>
                <a:latin typeface="Arial" panose="020B0604020202020204" pitchFamily="34" charset="0"/>
              </a:rPr>
              <a:t>manage large-scale compute demand </a:t>
            </a:r>
          </a:p>
          <a:p>
            <a:pPr marL="0" marR="0" lvl="0" indent="0" defTabSz="914400" rtl="0" eaLnBrk="0" fontAlgn="base" latinLnBrk="0" hangingPunct="0">
              <a:spcBef>
                <a:spcPct val="0"/>
              </a:spcBef>
              <a:spcAft>
                <a:spcPts val="600"/>
              </a:spcAft>
              <a:buClrTx/>
              <a:buSzTx/>
              <a:buNone/>
              <a:tabLst/>
            </a:pPr>
            <a:r>
              <a:rPr kumimoji="0" lang="en-US" altLang="en-US" b="1" i="0" u="none" strike="noStrike" cap="none" normalizeH="0" baseline="0" dirty="0">
                <a:ln>
                  <a:noFill/>
                </a:ln>
                <a:effectLst/>
                <a:latin typeface="Arial" panose="020B0604020202020204" pitchFamily="34" charset="0"/>
              </a:rPr>
              <a:t>Policy &amp; society</a:t>
            </a:r>
            <a:r>
              <a:rPr kumimoji="0" lang="en-US" altLang="en-US" b="0" i="0" u="none" strike="noStrike" cap="none" normalizeH="0" baseline="0" dirty="0">
                <a:ln>
                  <a:noFill/>
                </a:ln>
                <a:effectLst/>
                <a:latin typeface="Arial" panose="020B0604020202020204" pitchFamily="34" charset="0"/>
              </a:rPr>
              <a:t> </a:t>
            </a:r>
          </a:p>
          <a:p>
            <a:pPr marL="400050" lvl="1" indent="0" defTabSz="914400" eaLnBrk="0" fontAlgn="base" hangingPunct="0">
              <a:spcBef>
                <a:spcPct val="0"/>
              </a:spcBef>
              <a:spcAft>
                <a:spcPts val="600"/>
              </a:spcAft>
              <a:buClrTx/>
              <a:buSzTx/>
              <a:buNone/>
            </a:pPr>
            <a:r>
              <a:rPr kumimoji="0" lang="en-US" altLang="en-US" b="0" i="0" u="none" strike="noStrike" cap="none" normalizeH="0" baseline="0" dirty="0">
                <a:ln>
                  <a:noFill/>
                </a:ln>
                <a:effectLst/>
                <a:latin typeface="Arial" panose="020B0604020202020204" pitchFamily="34" charset="0"/>
              </a:rPr>
              <a:t>sustainability, regulation, accessibility</a:t>
            </a:r>
          </a:p>
          <a:p>
            <a:pPr marL="0" marR="0" lvl="0" indent="0" defTabSz="914400" rtl="0" eaLnBrk="0" fontAlgn="base" latinLnBrk="0" hangingPunct="0">
              <a:spcBef>
                <a:spcPct val="0"/>
              </a:spcBef>
              <a:spcAft>
                <a:spcPts val="600"/>
              </a:spcAft>
              <a:buClrTx/>
              <a:buSzTx/>
              <a:buFontTx/>
              <a:buNone/>
              <a:tabLst/>
            </a:pPr>
            <a:endParaRPr kumimoji="0" lang="en-US" altLang="en-US" b="0" i="0" u="none" strike="noStrike" cap="none" normalizeH="0" baseline="0" dirty="0">
              <a:ln>
                <a:noFill/>
              </a:ln>
              <a:effectLst/>
              <a:latin typeface="Arial" panose="020B0604020202020204" pitchFamily="34" charset="0"/>
            </a:endParaRPr>
          </a:p>
        </p:txBody>
      </p:sp>
      <p:sp>
        <p:nvSpPr>
          <p:cNvPr id="41" name="Isosceles Triangle 40">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661092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77C95-6BE3-B854-847D-F6C9FDF18C17}"/>
              </a:ext>
            </a:extLst>
          </p:cNvPr>
          <p:cNvSpPr>
            <a:spLocks noGrp="1"/>
          </p:cNvSpPr>
          <p:nvPr>
            <p:ph type="title"/>
          </p:nvPr>
        </p:nvSpPr>
        <p:spPr/>
        <p:txBody>
          <a:bodyPr/>
          <a:lstStyle/>
          <a:p>
            <a:r>
              <a:rPr lang="en-GB" dirty="0"/>
              <a:t>Ethics &amp; Justification</a:t>
            </a:r>
            <a:endParaRPr lang="en-US" dirty="0"/>
          </a:p>
        </p:txBody>
      </p:sp>
      <p:sp>
        <p:nvSpPr>
          <p:cNvPr id="4" name="Rectangle 1">
            <a:extLst>
              <a:ext uri="{FF2B5EF4-FFF2-40B4-BE49-F238E27FC236}">
                <a16:creationId xmlns:a16="http://schemas.microsoft.com/office/drawing/2014/main" id="{DD157EE0-351C-10A2-9E6C-ACFDF51E79A1}"/>
              </a:ext>
            </a:extLst>
          </p:cNvPr>
          <p:cNvSpPr>
            <a:spLocks noGrp="1" noChangeArrowheads="1"/>
          </p:cNvSpPr>
          <p:nvPr>
            <p:ph idx="1"/>
          </p:nvPr>
        </p:nvSpPr>
        <p:spPr bwMode="auto">
          <a:xfrm>
            <a:off x="821028" y="2113472"/>
            <a:ext cx="3167534" cy="3801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GB" dirty="0"/>
              <a:t>Frameworks: </a:t>
            </a:r>
          </a:p>
          <a:p>
            <a:pPr lvl="1"/>
            <a:r>
              <a:rPr lang="en-GB" dirty="0"/>
              <a:t>UNESCO </a:t>
            </a:r>
          </a:p>
          <a:p>
            <a:pPr lvl="1"/>
            <a:r>
              <a:rPr lang="en-GB" dirty="0"/>
              <a:t>EU Trustworthy AI </a:t>
            </a:r>
          </a:p>
          <a:p>
            <a:r>
              <a:rPr lang="en-GB" b="1" dirty="0"/>
              <a:t>Key values</a:t>
            </a:r>
            <a:endParaRPr lang="en-GB" dirty="0"/>
          </a:p>
          <a:p>
            <a:pPr lvl="1"/>
            <a:r>
              <a:rPr lang="en-GB" dirty="0"/>
              <a:t>Sustainability </a:t>
            </a:r>
          </a:p>
          <a:p>
            <a:pPr lvl="1"/>
            <a:r>
              <a:rPr lang="en-GB" dirty="0"/>
              <a:t>Transparency </a:t>
            </a:r>
          </a:p>
          <a:p>
            <a:pPr lvl="1"/>
            <a:r>
              <a:rPr lang="en-GB" dirty="0"/>
              <a:t>Human oversight </a:t>
            </a:r>
          </a:p>
          <a:p>
            <a:pPr lvl="1"/>
            <a:r>
              <a:rPr lang="en-GB" dirty="0"/>
              <a:t>Accountability </a:t>
            </a:r>
          </a:p>
          <a:p>
            <a:pPr lvl="1"/>
            <a:r>
              <a:rPr lang="en-GB" dirty="0"/>
              <a:t>Robustness &amp; reliability </a:t>
            </a:r>
          </a:p>
          <a:p>
            <a:pPr lvl="1"/>
            <a:r>
              <a:rPr lang="en-GB" dirty="0"/>
              <a:t>Accessibility / equity</a:t>
            </a:r>
          </a:p>
        </p:txBody>
      </p:sp>
    </p:spTree>
    <p:extLst>
      <p:ext uri="{BB962C8B-B14F-4D97-AF65-F5344CB8AC3E}">
        <p14:creationId xmlns:p14="http://schemas.microsoft.com/office/powerpoint/2010/main" val="1644131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DF4D7F6-81B5-452A-9CE6-76D81F91D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BF3DC1-6889-E033-75A2-CA5F96A715D5}"/>
              </a:ext>
            </a:extLst>
          </p:cNvPr>
          <p:cNvSpPr>
            <a:spLocks noGrp="1"/>
          </p:cNvSpPr>
          <p:nvPr>
            <p:ph type="title"/>
          </p:nvPr>
        </p:nvSpPr>
        <p:spPr>
          <a:xfrm>
            <a:off x="1333502" y="609600"/>
            <a:ext cx="8596668" cy="1320800"/>
          </a:xfrm>
        </p:spPr>
        <p:txBody>
          <a:bodyPr>
            <a:normAutofit/>
          </a:bodyPr>
          <a:lstStyle/>
          <a:p>
            <a:r>
              <a:rPr lang="en-GB" dirty="0"/>
              <a:t>Key Ethical Issues &amp; Dilemmas</a:t>
            </a:r>
            <a:endParaRPr lang="en-US" dirty="0"/>
          </a:p>
        </p:txBody>
      </p:sp>
      <p:sp>
        <p:nvSpPr>
          <p:cNvPr id="15" name="Isosceles Triangle 14">
            <a:extLst>
              <a:ext uri="{FF2B5EF4-FFF2-40B4-BE49-F238E27FC236}">
                <a16:creationId xmlns:a16="http://schemas.microsoft.com/office/drawing/2014/main" id="{4600514D-20FB-4559-97DC-D1DC39E6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266F638A-E405-4AC0-B984-72E5813B0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a:extLst>
              <a:ext uri="{FF2B5EF4-FFF2-40B4-BE49-F238E27FC236}">
                <a16:creationId xmlns:a16="http://schemas.microsoft.com/office/drawing/2014/main" id="{7D1CBE93-B17D-4509-843C-82287C3803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AE6277B4-6A43-48AB-89B2-3442221619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graphicFrame>
        <p:nvGraphicFramePr>
          <p:cNvPr id="25" name="Rectangle 4">
            <a:extLst>
              <a:ext uri="{FF2B5EF4-FFF2-40B4-BE49-F238E27FC236}">
                <a16:creationId xmlns:a16="http://schemas.microsoft.com/office/drawing/2014/main" id="{2AA8D83A-F8EE-9925-460E-CECC3E95C1EB}"/>
              </a:ext>
            </a:extLst>
          </p:cNvPr>
          <p:cNvGraphicFramePr>
            <a:graphicFrameLocks noGrp="1"/>
          </p:cNvGraphicFramePr>
          <p:nvPr>
            <p:ph idx="1"/>
            <p:extLst>
              <p:ext uri="{D42A27DB-BD31-4B8C-83A1-F6EECF244321}">
                <p14:modId xmlns:p14="http://schemas.microsoft.com/office/powerpoint/2010/main" val="1130060938"/>
              </p:ext>
            </p:extLst>
          </p:nvPr>
        </p:nvGraphicFramePr>
        <p:xfrm>
          <a:off x="1333502" y="2160590"/>
          <a:ext cx="8470898" cy="34292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3" name="Rectangle 27">
            <a:extLst>
              <a:ext uri="{FF2B5EF4-FFF2-40B4-BE49-F238E27FC236}">
                <a16:creationId xmlns:a16="http://schemas.microsoft.com/office/drawing/2014/main" id="{27B538D5-95DB-47ED-9CB4-34AE5BF78E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160806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757BB-A5A0-66A4-ACA0-3E768326FADA}"/>
              </a:ext>
            </a:extLst>
          </p:cNvPr>
          <p:cNvSpPr>
            <a:spLocks noGrp="1"/>
          </p:cNvSpPr>
          <p:nvPr>
            <p:ph type="title"/>
          </p:nvPr>
        </p:nvSpPr>
        <p:spPr/>
        <p:txBody>
          <a:bodyPr/>
          <a:lstStyle/>
          <a:p>
            <a:r>
              <a:rPr lang="en-GB" dirty="0"/>
              <a:t>Impact &amp; Discussion</a:t>
            </a:r>
            <a:endParaRPr lang="en-US" dirty="0"/>
          </a:p>
        </p:txBody>
      </p:sp>
      <p:sp>
        <p:nvSpPr>
          <p:cNvPr id="3" name="Content Placeholder 2">
            <a:extLst>
              <a:ext uri="{FF2B5EF4-FFF2-40B4-BE49-F238E27FC236}">
                <a16:creationId xmlns:a16="http://schemas.microsoft.com/office/drawing/2014/main" id="{5750CBF2-9709-5193-CF6A-9858AE92F872}"/>
              </a:ext>
            </a:extLst>
          </p:cNvPr>
          <p:cNvSpPr>
            <a:spLocks noGrp="1"/>
          </p:cNvSpPr>
          <p:nvPr>
            <p:ph idx="1"/>
          </p:nvPr>
        </p:nvSpPr>
        <p:spPr/>
        <p:txBody>
          <a:bodyPr>
            <a:normAutofit fontScale="92500" lnSpcReduction="20000"/>
          </a:bodyPr>
          <a:lstStyle/>
          <a:p>
            <a:r>
              <a:rPr lang="en-GB" b="1" dirty="0"/>
              <a:t>Potential benefits</a:t>
            </a:r>
            <a:endParaRPr lang="en-GB" dirty="0"/>
          </a:p>
          <a:p>
            <a:pPr lvl="1"/>
            <a:r>
              <a:rPr lang="en-GB" dirty="0"/>
              <a:t>lower energy &amp; compute use </a:t>
            </a:r>
          </a:p>
          <a:p>
            <a:pPr lvl="1"/>
            <a:r>
              <a:rPr lang="en-GB" dirty="0"/>
              <a:t>reduced costs </a:t>
            </a:r>
          </a:p>
          <a:p>
            <a:pPr lvl="1"/>
            <a:r>
              <a:rPr lang="en-GB" dirty="0"/>
              <a:t>better decision-making (transparency) </a:t>
            </a:r>
          </a:p>
          <a:p>
            <a:r>
              <a:rPr lang="en-GB" b="1" dirty="0"/>
              <a:t>Potential risks</a:t>
            </a:r>
            <a:endParaRPr lang="en-GB" dirty="0"/>
          </a:p>
          <a:p>
            <a:pPr lvl="1"/>
            <a:r>
              <a:rPr lang="en-GB" dirty="0"/>
              <a:t>rebound effect (more AI usage) </a:t>
            </a:r>
          </a:p>
          <a:p>
            <a:pPr lvl="1"/>
            <a:r>
              <a:rPr lang="en-GB" dirty="0"/>
              <a:t>misleading predictions </a:t>
            </a:r>
          </a:p>
          <a:p>
            <a:pPr lvl="1"/>
            <a:r>
              <a:rPr lang="en-GB" dirty="0"/>
              <a:t>limited real-world impact </a:t>
            </a:r>
          </a:p>
          <a:p>
            <a:r>
              <a:rPr lang="en-GB" b="1" dirty="0"/>
              <a:t>Open questions</a:t>
            </a:r>
            <a:endParaRPr lang="en-GB" dirty="0"/>
          </a:p>
          <a:p>
            <a:pPr lvl="1"/>
            <a:r>
              <a:rPr lang="en-GB" dirty="0"/>
              <a:t>Do savings outweigh optimization cost? </a:t>
            </a:r>
          </a:p>
          <a:p>
            <a:pPr lvl="1"/>
            <a:r>
              <a:rPr lang="en-GB" dirty="0"/>
              <a:t>How reliable should predictions be? </a:t>
            </a:r>
          </a:p>
          <a:p>
            <a:pPr lvl="1"/>
            <a:r>
              <a:rPr lang="en-GB" dirty="0"/>
              <a:t>How can this help encourage a change?</a:t>
            </a:r>
          </a:p>
        </p:txBody>
      </p:sp>
    </p:spTree>
    <p:extLst>
      <p:ext uri="{BB962C8B-B14F-4D97-AF65-F5344CB8AC3E}">
        <p14:creationId xmlns:p14="http://schemas.microsoft.com/office/powerpoint/2010/main" val="116927687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27</TotalTime>
  <Words>699</Words>
  <Application>Microsoft Office PowerPoint</Application>
  <PresentationFormat>Widescreen</PresentationFormat>
  <Paragraphs>84</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Trebuchet MS</vt:lpstr>
      <vt:lpstr>Wingdings 3</vt:lpstr>
      <vt:lpstr>Facet</vt:lpstr>
      <vt:lpstr>Sustainable optimization of LLMs using Bayesian surrogate-based pruning</vt:lpstr>
      <vt:lpstr>Context &amp; Motivation</vt:lpstr>
      <vt:lpstr>Proposed Solution (AI System)</vt:lpstr>
      <vt:lpstr>Dataset &amp; Model Choices</vt:lpstr>
      <vt:lpstr>Stakeholders</vt:lpstr>
      <vt:lpstr>Ethics &amp; Justification</vt:lpstr>
      <vt:lpstr>Key Ethical Issues &amp; Dilemmas</vt:lpstr>
      <vt:lpstr>Impact &amp; 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Frank van der Velde</dc:creator>
  <cp:lastModifiedBy>Frank van der Velde</cp:lastModifiedBy>
  <cp:revision>1</cp:revision>
  <dcterms:created xsi:type="dcterms:W3CDTF">2026-03-22T19:22:42Z</dcterms:created>
  <dcterms:modified xsi:type="dcterms:W3CDTF">2026-03-22T19:50:32Z</dcterms:modified>
</cp:coreProperties>
</file>