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8" r:id="rId3"/>
    <p:sldId id="265" r:id="rId4"/>
    <p:sldId id="276" r:id="rId5"/>
    <p:sldId id="266" r:id="rId6"/>
    <p:sldId id="267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8"/>
    <p:restoredTop sz="94694"/>
  </p:normalViewPr>
  <p:slideViewPr>
    <p:cSldViewPr snapToGrid="0">
      <p:cViewPr varScale="1">
        <p:scale>
          <a:sx n="109" d="100"/>
          <a:sy n="109" d="100"/>
        </p:scale>
        <p:origin x="-5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3D5D97-944D-4C4E-8691-B4EC950294D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06A64BF-D81A-47DC-95DB-4B16BD545E0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/>
            <a:t>Context</a:t>
          </a:r>
          <a:r>
            <a:rPr lang="en-US" b="0" i="0" baseline="0"/>
            <a:t> </a:t>
          </a:r>
          <a:endParaRPr lang="en-US"/>
        </a:p>
      </dgm:t>
    </dgm:pt>
    <dgm:pt modelId="{0231C153-B1CA-41C5-9D23-C35CF276BAE5}" type="parTrans" cxnId="{ABC7AC44-113B-4011-9177-10324844046A}">
      <dgm:prSet/>
      <dgm:spPr/>
      <dgm:t>
        <a:bodyPr/>
        <a:lstStyle/>
        <a:p>
          <a:endParaRPr lang="en-US"/>
        </a:p>
      </dgm:t>
    </dgm:pt>
    <dgm:pt modelId="{1AEF5AA0-639C-4676-B74D-1F7976151E57}" type="sibTrans" cxnId="{ABC7AC44-113B-4011-9177-10324844046A}">
      <dgm:prSet/>
      <dgm:spPr/>
      <dgm:t>
        <a:bodyPr/>
        <a:lstStyle/>
        <a:p>
          <a:endParaRPr lang="en-US"/>
        </a:p>
      </dgm:t>
    </dgm:pt>
    <dgm:pt modelId="{174657AA-CBC5-4136-AC99-151333C069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LLMs → high inference cost and environmental impact </a:t>
          </a:r>
          <a:endParaRPr lang="en-US"/>
        </a:p>
      </dgm:t>
    </dgm:pt>
    <dgm:pt modelId="{A5FAA9D1-C533-405D-A19D-E21D94B5A71A}" type="parTrans" cxnId="{9034A8A5-DBA0-4D0B-B301-8EBD785F745F}">
      <dgm:prSet/>
      <dgm:spPr/>
      <dgm:t>
        <a:bodyPr/>
        <a:lstStyle/>
        <a:p>
          <a:endParaRPr lang="en-US"/>
        </a:p>
      </dgm:t>
    </dgm:pt>
    <dgm:pt modelId="{9DFD4940-EFED-4745-B24A-6FD3B620D7EB}" type="sibTrans" cxnId="{9034A8A5-DBA0-4D0B-B301-8EBD785F745F}">
      <dgm:prSet/>
      <dgm:spPr/>
      <dgm:t>
        <a:bodyPr/>
        <a:lstStyle/>
        <a:p>
          <a:endParaRPr lang="en-US"/>
        </a:p>
      </dgm:t>
    </dgm:pt>
    <dgm:pt modelId="{1B48C22D-D104-4CD6-B04E-DE9552058C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Pruning reduces cost but requires many expensive experiments </a:t>
          </a:r>
          <a:endParaRPr lang="en-US"/>
        </a:p>
      </dgm:t>
    </dgm:pt>
    <dgm:pt modelId="{1DF8232E-B8F0-4110-A622-EC103A902E2D}" type="parTrans" cxnId="{E8CAE91E-D78C-4DDF-A227-905D17887743}">
      <dgm:prSet/>
      <dgm:spPr/>
      <dgm:t>
        <a:bodyPr/>
        <a:lstStyle/>
        <a:p>
          <a:endParaRPr lang="en-US"/>
        </a:p>
      </dgm:t>
    </dgm:pt>
    <dgm:pt modelId="{478D2824-7B82-496A-B6FB-A9AD719EFBB2}" type="sibTrans" cxnId="{E8CAE91E-D78C-4DDF-A227-905D17887743}">
      <dgm:prSet/>
      <dgm:spPr/>
      <dgm:t>
        <a:bodyPr/>
        <a:lstStyle/>
        <a:p>
          <a:endParaRPr lang="en-US"/>
        </a:p>
      </dgm:t>
    </dgm:pt>
    <dgm:pt modelId="{39033EC3-C954-46E0-9CC6-F634C61362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Developers lack transparent tools for trade-offs </a:t>
          </a:r>
          <a:endParaRPr lang="en-US"/>
        </a:p>
      </dgm:t>
    </dgm:pt>
    <dgm:pt modelId="{7FFB94D0-119C-44E3-8589-475DB474FE88}" type="parTrans" cxnId="{F3E76A90-2D21-4130-97E8-63D4FA599FDE}">
      <dgm:prSet/>
      <dgm:spPr/>
      <dgm:t>
        <a:bodyPr/>
        <a:lstStyle/>
        <a:p>
          <a:endParaRPr lang="en-US"/>
        </a:p>
      </dgm:t>
    </dgm:pt>
    <dgm:pt modelId="{E150337D-D8ED-4077-894B-A0CEF637FA94}" type="sibTrans" cxnId="{F3E76A90-2D21-4130-97E8-63D4FA599FDE}">
      <dgm:prSet/>
      <dgm:spPr/>
      <dgm:t>
        <a:bodyPr/>
        <a:lstStyle/>
        <a:p>
          <a:endParaRPr lang="en-US"/>
        </a:p>
      </dgm:t>
    </dgm:pt>
    <dgm:pt modelId="{D12A5509-61B5-4BDE-855F-2FC54C3BC91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/>
            <a:t>Approach</a:t>
          </a:r>
          <a:r>
            <a:rPr lang="en-US" b="0" i="0" baseline="0"/>
            <a:t> </a:t>
          </a:r>
          <a:endParaRPr lang="en-US"/>
        </a:p>
      </dgm:t>
    </dgm:pt>
    <dgm:pt modelId="{AA4AEB50-65E0-47F0-A933-7AD0888F08E1}" type="parTrans" cxnId="{1B91C437-4B9F-4FAB-9C34-2FBB6FAEF757}">
      <dgm:prSet/>
      <dgm:spPr/>
      <dgm:t>
        <a:bodyPr/>
        <a:lstStyle/>
        <a:p>
          <a:endParaRPr lang="en-US"/>
        </a:p>
      </dgm:t>
    </dgm:pt>
    <dgm:pt modelId="{C81B321E-A1C8-4BE1-BCA3-52CC3BEAC278}" type="sibTrans" cxnId="{1B91C437-4B9F-4FAB-9C34-2FBB6FAEF757}">
      <dgm:prSet/>
      <dgm:spPr/>
      <dgm:t>
        <a:bodyPr/>
        <a:lstStyle/>
        <a:p>
          <a:endParaRPr lang="en-US"/>
        </a:p>
      </dgm:t>
    </dgm:pt>
    <dgm:pt modelId="{1743DAC3-D4B6-4613-98F4-8B0A8D05EE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Bayesian surrogate model predicts pruning outcomes </a:t>
          </a:r>
          <a:endParaRPr lang="en-US"/>
        </a:p>
      </dgm:t>
    </dgm:pt>
    <dgm:pt modelId="{E25A4377-5879-46CC-8551-C225AAAEDA6F}" type="parTrans" cxnId="{BAE23CBD-B79C-4902-B414-55537D5B2438}">
      <dgm:prSet/>
      <dgm:spPr/>
      <dgm:t>
        <a:bodyPr/>
        <a:lstStyle/>
        <a:p>
          <a:endParaRPr lang="en-US"/>
        </a:p>
      </dgm:t>
    </dgm:pt>
    <dgm:pt modelId="{3863524A-36A9-4215-9563-3024521831FE}" type="sibTrans" cxnId="{BAE23CBD-B79C-4902-B414-55537D5B2438}">
      <dgm:prSet/>
      <dgm:spPr/>
      <dgm:t>
        <a:bodyPr/>
        <a:lstStyle/>
        <a:p>
          <a:endParaRPr lang="en-US"/>
        </a:p>
      </dgm:t>
    </dgm:pt>
    <dgm:pt modelId="{EA3DA8B5-422A-41D7-A497-4808F661E4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Bayesian optimization reduces number of evaluations </a:t>
          </a:r>
          <a:endParaRPr lang="en-US"/>
        </a:p>
      </dgm:t>
    </dgm:pt>
    <dgm:pt modelId="{B207F2CF-42F8-4066-926C-1483E1D194C2}" type="parTrans" cxnId="{3A40D9BE-DF62-413F-918D-E1E68D061CAC}">
      <dgm:prSet/>
      <dgm:spPr/>
      <dgm:t>
        <a:bodyPr/>
        <a:lstStyle/>
        <a:p>
          <a:endParaRPr lang="en-US"/>
        </a:p>
      </dgm:t>
    </dgm:pt>
    <dgm:pt modelId="{3B83DE9F-A4C1-40A5-A7A9-34B1410D7681}" type="sibTrans" cxnId="{3A40D9BE-DF62-413F-918D-E1E68D061CAC}">
      <dgm:prSet/>
      <dgm:spPr/>
      <dgm:t>
        <a:bodyPr/>
        <a:lstStyle/>
        <a:p>
          <a:endParaRPr lang="en-US"/>
        </a:p>
      </dgm:t>
    </dgm:pt>
    <dgm:pt modelId="{FD1AD623-60AD-4F07-983E-BC4EA8B682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Integrated into sustainability dashboard </a:t>
          </a:r>
          <a:endParaRPr lang="en-US"/>
        </a:p>
      </dgm:t>
    </dgm:pt>
    <dgm:pt modelId="{701C6341-6357-4619-B014-926F26EE4BD9}" type="parTrans" cxnId="{C22CC616-3DCB-47CF-9900-E85316F137A4}">
      <dgm:prSet/>
      <dgm:spPr/>
      <dgm:t>
        <a:bodyPr/>
        <a:lstStyle/>
        <a:p>
          <a:endParaRPr lang="en-US"/>
        </a:p>
      </dgm:t>
    </dgm:pt>
    <dgm:pt modelId="{6571D9C6-DAFA-428B-95B3-DADDAC9ACB69}" type="sibTrans" cxnId="{C22CC616-3DCB-47CF-9900-E85316F137A4}">
      <dgm:prSet/>
      <dgm:spPr/>
      <dgm:t>
        <a:bodyPr/>
        <a:lstStyle/>
        <a:p>
          <a:endParaRPr lang="en-US"/>
        </a:p>
      </dgm:t>
    </dgm:pt>
    <dgm:pt modelId="{6B72134E-26D7-41B4-B4AD-F5436CF9AD8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/>
            <a:t>Main Research Question</a:t>
          </a:r>
          <a:r>
            <a:rPr lang="en-US" b="0" i="0" baseline="0"/>
            <a:t> </a:t>
          </a:r>
          <a:endParaRPr lang="en-US"/>
        </a:p>
      </dgm:t>
    </dgm:pt>
    <dgm:pt modelId="{2B1574C7-1B5F-4099-B4AB-BE70B1EA6D90}" type="parTrans" cxnId="{F8D031D7-9DBD-4E80-82CB-9644379BAEB5}">
      <dgm:prSet/>
      <dgm:spPr/>
      <dgm:t>
        <a:bodyPr/>
        <a:lstStyle/>
        <a:p>
          <a:endParaRPr lang="en-US"/>
        </a:p>
      </dgm:t>
    </dgm:pt>
    <dgm:pt modelId="{A51B9CB6-35D6-49D4-98F8-2C1F46F08A8F}" type="sibTrans" cxnId="{F8D031D7-9DBD-4E80-82CB-9644379BAEB5}">
      <dgm:prSet/>
      <dgm:spPr/>
      <dgm:t>
        <a:bodyPr/>
        <a:lstStyle/>
        <a:p>
          <a:endParaRPr lang="en-US"/>
        </a:p>
      </dgm:t>
    </dgm:pt>
    <dgm:pt modelId="{70B5487D-7754-47AF-821D-4A773E0127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1" baseline="0"/>
            <a:t>To what extent can Bayesian surrogate-based optimization guide magnitude-based pruning to reduce ecological impact while preserving performance and supporting transparent decision-making?</a:t>
          </a:r>
          <a:endParaRPr lang="en-US"/>
        </a:p>
      </dgm:t>
    </dgm:pt>
    <dgm:pt modelId="{0AAFD8D6-81D6-4584-AC4B-658760B349C4}" type="parTrans" cxnId="{777947E1-807E-4A3E-98EB-F92CA4878314}">
      <dgm:prSet/>
      <dgm:spPr/>
      <dgm:t>
        <a:bodyPr/>
        <a:lstStyle/>
        <a:p>
          <a:endParaRPr lang="en-US"/>
        </a:p>
      </dgm:t>
    </dgm:pt>
    <dgm:pt modelId="{8421036C-8633-4C02-9354-61F04024EEBA}" type="sibTrans" cxnId="{777947E1-807E-4A3E-98EB-F92CA4878314}">
      <dgm:prSet/>
      <dgm:spPr/>
      <dgm:t>
        <a:bodyPr/>
        <a:lstStyle/>
        <a:p>
          <a:endParaRPr lang="en-US"/>
        </a:p>
      </dgm:t>
    </dgm:pt>
    <dgm:pt modelId="{1089ECD8-78FC-4F0C-8779-316047457AB4}" type="pres">
      <dgm:prSet presAssocID="{513D5D97-944D-4C4E-8691-B4EC950294D0}" presName="root" presStyleCnt="0">
        <dgm:presLayoutVars>
          <dgm:dir/>
          <dgm:resizeHandles val="exact"/>
        </dgm:presLayoutVars>
      </dgm:prSet>
      <dgm:spPr/>
    </dgm:pt>
    <dgm:pt modelId="{2219F334-893A-4108-BAB7-5FA74A4B540C}" type="pres">
      <dgm:prSet presAssocID="{A06A64BF-D81A-47DC-95DB-4B16BD545E0C}" presName="compNode" presStyleCnt="0"/>
      <dgm:spPr/>
    </dgm:pt>
    <dgm:pt modelId="{B355F27B-AFFE-4AF3-9A8C-7B01D9640C3A}" type="pres">
      <dgm:prSet presAssocID="{A06A64BF-D81A-47DC-95DB-4B16BD545E0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73540D9-8FF7-4DCB-B819-F846254C3282}" type="pres">
      <dgm:prSet presAssocID="{A06A64BF-D81A-47DC-95DB-4B16BD545E0C}" presName="iconSpace" presStyleCnt="0"/>
      <dgm:spPr/>
    </dgm:pt>
    <dgm:pt modelId="{3075CB73-9563-4A6E-A0A0-5A4A2EC59208}" type="pres">
      <dgm:prSet presAssocID="{A06A64BF-D81A-47DC-95DB-4B16BD545E0C}" presName="parTx" presStyleLbl="revTx" presStyleIdx="0" presStyleCnt="6">
        <dgm:presLayoutVars>
          <dgm:chMax val="0"/>
          <dgm:chPref val="0"/>
        </dgm:presLayoutVars>
      </dgm:prSet>
      <dgm:spPr/>
    </dgm:pt>
    <dgm:pt modelId="{2B46CD8C-90F5-4A25-8BB3-503D4841B33F}" type="pres">
      <dgm:prSet presAssocID="{A06A64BF-D81A-47DC-95DB-4B16BD545E0C}" presName="txSpace" presStyleCnt="0"/>
      <dgm:spPr/>
    </dgm:pt>
    <dgm:pt modelId="{60BFB5D5-27D4-4829-89A3-5A97571DCC7B}" type="pres">
      <dgm:prSet presAssocID="{A06A64BF-D81A-47DC-95DB-4B16BD545E0C}" presName="desTx" presStyleLbl="revTx" presStyleIdx="1" presStyleCnt="6">
        <dgm:presLayoutVars/>
      </dgm:prSet>
      <dgm:spPr/>
    </dgm:pt>
    <dgm:pt modelId="{BD9D9F7C-9453-4E22-BDFA-8D1C9389369F}" type="pres">
      <dgm:prSet presAssocID="{1AEF5AA0-639C-4676-B74D-1F7976151E57}" presName="sibTrans" presStyleCnt="0"/>
      <dgm:spPr/>
    </dgm:pt>
    <dgm:pt modelId="{1BAAFAA7-4E0D-424F-8982-C7871ED03298}" type="pres">
      <dgm:prSet presAssocID="{D12A5509-61B5-4BDE-855F-2FC54C3BC915}" presName="compNode" presStyleCnt="0"/>
      <dgm:spPr/>
    </dgm:pt>
    <dgm:pt modelId="{4BA3195D-AB64-47EF-9E88-7C1F7241666A}" type="pres">
      <dgm:prSet presAssocID="{D12A5509-61B5-4BDE-855F-2FC54C3BC91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1C906B6-F9DA-4B5E-AA0A-0A36A8FE1A39}" type="pres">
      <dgm:prSet presAssocID="{D12A5509-61B5-4BDE-855F-2FC54C3BC915}" presName="iconSpace" presStyleCnt="0"/>
      <dgm:spPr/>
    </dgm:pt>
    <dgm:pt modelId="{048C18D8-032A-4FAF-AE00-2ABBDE2D9CD1}" type="pres">
      <dgm:prSet presAssocID="{D12A5509-61B5-4BDE-855F-2FC54C3BC915}" presName="parTx" presStyleLbl="revTx" presStyleIdx="2" presStyleCnt="6">
        <dgm:presLayoutVars>
          <dgm:chMax val="0"/>
          <dgm:chPref val="0"/>
        </dgm:presLayoutVars>
      </dgm:prSet>
      <dgm:spPr/>
    </dgm:pt>
    <dgm:pt modelId="{D905ECD5-A48B-4DFA-B909-97C1D49FFDCD}" type="pres">
      <dgm:prSet presAssocID="{D12A5509-61B5-4BDE-855F-2FC54C3BC915}" presName="txSpace" presStyleCnt="0"/>
      <dgm:spPr/>
    </dgm:pt>
    <dgm:pt modelId="{EFB93E69-5196-46FC-AEB5-AC515DE6A211}" type="pres">
      <dgm:prSet presAssocID="{D12A5509-61B5-4BDE-855F-2FC54C3BC915}" presName="desTx" presStyleLbl="revTx" presStyleIdx="3" presStyleCnt="6">
        <dgm:presLayoutVars/>
      </dgm:prSet>
      <dgm:spPr/>
    </dgm:pt>
    <dgm:pt modelId="{D3B63534-9DA6-478D-9C17-955A8DC6EEED}" type="pres">
      <dgm:prSet presAssocID="{C81B321E-A1C8-4BE1-BCA3-52CC3BEAC278}" presName="sibTrans" presStyleCnt="0"/>
      <dgm:spPr/>
    </dgm:pt>
    <dgm:pt modelId="{63D2BB8E-3714-42C4-A690-8CF55942FCEC}" type="pres">
      <dgm:prSet presAssocID="{6B72134E-26D7-41B4-B4AD-F5436CF9AD82}" presName="compNode" presStyleCnt="0"/>
      <dgm:spPr/>
    </dgm:pt>
    <dgm:pt modelId="{DD428BCA-CE34-4791-BDB3-8C65E9966798}" type="pres">
      <dgm:prSet presAssocID="{6B72134E-26D7-41B4-B4AD-F5436CF9AD8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970D7C4-B2E9-4BCF-BDB4-2E3DF5D6571D}" type="pres">
      <dgm:prSet presAssocID="{6B72134E-26D7-41B4-B4AD-F5436CF9AD82}" presName="iconSpace" presStyleCnt="0"/>
      <dgm:spPr/>
    </dgm:pt>
    <dgm:pt modelId="{14EA33EE-3BC9-474E-A606-F874365A453F}" type="pres">
      <dgm:prSet presAssocID="{6B72134E-26D7-41B4-B4AD-F5436CF9AD82}" presName="parTx" presStyleLbl="revTx" presStyleIdx="4" presStyleCnt="6">
        <dgm:presLayoutVars>
          <dgm:chMax val="0"/>
          <dgm:chPref val="0"/>
        </dgm:presLayoutVars>
      </dgm:prSet>
      <dgm:spPr/>
    </dgm:pt>
    <dgm:pt modelId="{F2008744-9ABF-4D66-922F-58A65621833F}" type="pres">
      <dgm:prSet presAssocID="{6B72134E-26D7-41B4-B4AD-F5436CF9AD82}" presName="txSpace" presStyleCnt="0"/>
      <dgm:spPr/>
    </dgm:pt>
    <dgm:pt modelId="{C1519D8A-360B-4B08-8DAE-F9BCD40CD1CF}" type="pres">
      <dgm:prSet presAssocID="{6B72134E-26D7-41B4-B4AD-F5436CF9AD82}" presName="desTx" presStyleLbl="revTx" presStyleIdx="5" presStyleCnt="6">
        <dgm:presLayoutVars/>
      </dgm:prSet>
      <dgm:spPr/>
    </dgm:pt>
  </dgm:ptLst>
  <dgm:cxnLst>
    <dgm:cxn modelId="{C22CC616-3DCB-47CF-9900-E85316F137A4}" srcId="{D12A5509-61B5-4BDE-855F-2FC54C3BC915}" destId="{FD1AD623-60AD-4F07-983E-BC4EA8B6828C}" srcOrd="2" destOrd="0" parTransId="{701C6341-6357-4619-B014-926F26EE4BD9}" sibTransId="{6571D9C6-DAFA-428B-95B3-DADDAC9ACB69}"/>
    <dgm:cxn modelId="{E8CAE91E-D78C-4DDF-A227-905D17887743}" srcId="{A06A64BF-D81A-47DC-95DB-4B16BD545E0C}" destId="{1B48C22D-D104-4CD6-B04E-DE9552058C35}" srcOrd="1" destOrd="0" parTransId="{1DF8232E-B8F0-4110-A622-EC103A902E2D}" sibTransId="{478D2824-7B82-496A-B6FB-A9AD719EFBB2}"/>
    <dgm:cxn modelId="{1B91C437-4B9F-4FAB-9C34-2FBB6FAEF757}" srcId="{513D5D97-944D-4C4E-8691-B4EC950294D0}" destId="{D12A5509-61B5-4BDE-855F-2FC54C3BC915}" srcOrd="1" destOrd="0" parTransId="{AA4AEB50-65E0-47F0-A933-7AD0888F08E1}" sibTransId="{C81B321E-A1C8-4BE1-BCA3-52CC3BEAC278}"/>
    <dgm:cxn modelId="{0A96E53F-A7F0-45D9-BE49-89B9ED11D888}" type="presOf" srcId="{174657AA-CBC5-4136-AC99-151333C06964}" destId="{60BFB5D5-27D4-4829-89A3-5A97571DCC7B}" srcOrd="0" destOrd="0" presId="urn:microsoft.com/office/officeart/2018/2/layout/IconLabelDescriptionList"/>
    <dgm:cxn modelId="{ABC7AC44-113B-4011-9177-10324844046A}" srcId="{513D5D97-944D-4C4E-8691-B4EC950294D0}" destId="{A06A64BF-D81A-47DC-95DB-4B16BD545E0C}" srcOrd="0" destOrd="0" parTransId="{0231C153-B1CA-41C5-9D23-C35CF276BAE5}" sibTransId="{1AEF5AA0-639C-4676-B74D-1F7976151E57}"/>
    <dgm:cxn modelId="{C5E3DA44-BDB1-49B6-8601-FCB9AB673EF3}" type="presOf" srcId="{513D5D97-944D-4C4E-8691-B4EC950294D0}" destId="{1089ECD8-78FC-4F0C-8779-316047457AB4}" srcOrd="0" destOrd="0" presId="urn:microsoft.com/office/officeart/2018/2/layout/IconLabelDescriptionList"/>
    <dgm:cxn modelId="{D75E965A-1937-4609-9728-CBCA84D08F66}" type="presOf" srcId="{1B48C22D-D104-4CD6-B04E-DE9552058C35}" destId="{60BFB5D5-27D4-4829-89A3-5A97571DCC7B}" srcOrd="0" destOrd="1" presId="urn:microsoft.com/office/officeart/2018/2/layout/IconLabelDescriptionList"/>
    <dgm:cxn modelId="{EB1A915C-B69A-4D24-9F77-362B0D0DA86C}" type="presOf" srcId="{EA3DA8B5-422A-41D7-A497-4808F661E4F8}" destId="{EFB93E69-5196-46FC-AEB5-AC515DE6A211}" srcOrd="0" destOrd="1" presId="urn:microsoft.com/office/officeart/2018/2/layout/IconLabelDescriptionList"/>
    <dgm:cxn modelId="{954F447A-763C-4E3C-9B51-02BF89087DD8}" type="presOf" srcId="{D12A5509-61B5-4BDE-855F-2FC54C3BC915}" destId="{048C18D8-032A-4FAF-AE00-2ABBDE2D9CD1}" srcOrd="0" destOrd="0" presId="urn:microsoft.com/office/officeart/2018/2/layout/IconLabelDescriptionList"/>
    <dgm:cxn modelId="{F09C727F-425B-4087-BD34-F3ED699A6A36}" type="presOf" srcId="{1743DAC3-D4B6-4613-98F4-8B0A8D05EE20}" destId="{EFB93E69-5196-46FC-AEB5-AC515DE6A211}" srcOrd="0" destOrd="0" presId="urn:microsoft.com/office/officeart/2018/2/layout/IconLabelDescriptionList"/>
    <dgm:cxn modelId="{16709B82-6426-4B7C-9377-59F63B735B90}" type="presOf" srcId="{70B5487D-7754-47AF-821D-4A773E0127A6}" destId="{C1519D8A-360B-4B08-8DAE-F9BCD40CD1CF}" srcOrd="0" destOrd="0" presId="urn:microsoft.com/office/officeart/2018/2/layout/IconLabelDescriptionList"/>
    <dgm:cxn modelId="{F3E76A90-2D21-4130-97E8-63D4FA599FDE}" srcId="{A06A64BF-D81A-47DC-95DB-4B16BD545E0C}" destId="{39033EC3-C954-46E0-9CC6-F634C6136243}" srcOrd="2" destOrd="0" parTransId="{7FFB94D0-119C-44E3-8589-475DB474FE88}" sibTransId="{E150337D-D8ED-4077-894B-A0CEF637FA94}"/>
    <dgm:cxn modelId="{9034A8A5-DBA0-4D0B-B301-8EBD785F745F}" srcId="{A06A64BF-D81A-47DC-95DB-4B16BD545E0C}" destId="{174657AA-CBC5-4136-AC99-151333C06964}" srcOrd="0" destOrd="0" parTransId="{A5FAA9D1-C533-405D-A19D-E21D94B5A71A}" sibTransId="{9DFD4940-EFED-4745-B24A-6FD3B620D7EB}"/>
    <dgm:cxn modelId="{BAE23CBD-B79C-4902-B414-55537D5B2438}" srcId="{D12A5509-61B5-4BDE-855F-2FC54C3BC915}" destId="{1743DAC3-D4B6-4613-98F4-8B0A8D05EE20}" srcOrd="0" destOrd="0" parTransId="{E25A4377-5879-46CC-8551-C225AAAEDA6F}" sibTransId="{3863524A-36A9-4215-9563-3024521831FE}"/>
    <dgm:cxn modelId="{3A40D9BE-DF62-413F-918D-E1E68D061CAC}" srcId="{D12A5509-61B5-4BDE-855F-2FC54C3BC915}" destId="{EA3DA8B5-422A-41D7-A497-4808F661E4F8}" srcOrd="1" destOrd="0" parTransId="{B207F2CF-42F8-4066-926C-1483E1D194C2}" sibTransId="{3B83DE9F-A4C1-40A5-A7A9-34B1410D7681}"/>
    <dgm:cxn modelId="{56D6F3C8-936B-4875-8223-0AE6614CC70B}" type="presOf" srcId="{FD1AD623-60AD-4F07-983E-BC4EA8B6828C}" destId="{EFB93E69-5196-46FC-AEB5-AC515DE6A211}" srcOrd="0" destOrd="2" presId="urn:microsoft.com/office/officeart/2018/2/layout/IconLabelDescriptionList"/>
    <dgm:cxn modelId="{F8D031D7-9DBD-4E80-82CB-9644379BAEB5}" srcId="{513D5D97-944D-4C4E-8691-B4EC950294D0}" destId="{6B72134E-26D7-41B4-B4AD-F5436CF9AD82}" srcOrd="2" destOrd="0" parTransId="{2B1574C7-1B5F-4099-B4AB-BE70B1EA6D90}" sibTransId="{A51B9CB6-35D6-49D4-98F8-2C1F46F08A8F}"/>
    <dgm:cxn modelId="{DBB2ABD8-0B5E-46B1-8F80-AB1D86AFCEEA}" type="presOf" srcId="{39033EC3-C954-46E0-9CC6-F634C6136243}" destId="{60BFB5D5-27D4-4829-89A3-5A97571DCC7B}" srcOrd="0" destOrd="2" presId="urn:microsoft.com/office/officeart/2018/2/layout/IconLabelDescriptionList"/>
    <dgm:cxn modelId="{6BBAF5DC-58FB-423A-929E-DA07BB1B599B}" type="presOf" srcId="{6B72134E-26D7-41B4-B4AD-F5436CF9AD82}" destId="{14EA33EE-3BC9-474E-A606-F874365A453F}" srcOrd="0" destOrd="0" presId="urn:microsoft.com/office/officeart/2018/2/layout/IconLabelDescriptionList"/>
    <dgm:cxn modelId="{777947E1-807E-4A3E-98EB-F92CA4878314}" srcId="{6B72134E-26D7-41B4-B4AD-F5436CF9AD82}" destId="{70B5487D-7754-47AF-821D-4A773E0127A6}" srcOrd="0" destOrd="0" parTransId="{0AAFD8D6-81D6-4584-AC4B-658760B349C4}" sibTransId="{8421036C-8633-4C02-9354-61F04024EEBA}"/>
    <dgm:cxn modelId="{34D160E2-ECDD-459D-9A4E-8AC431C5A8DD}" type="presOf" srcId="{A06A64BF-D81A-47DC-95DB-4B16BD545E0C}" destId="{3075CB73-9563-4A6E-A0A0-5A4A2EC59208}" srcOrd="0" destOrd="0" presId="urn:microsoft.com/office/officeart/2018/2/layout/IconLabelDescriptionList"/>
    <dgm:cxn modelId="{53B2AD39-A9D2-4E99-96CF-F5B064961FFB}" type="presParOf" srcId="{1089ECD8-78FC-4F0C-8779-316047457AB4}" destId="{2219F334-893A-4108-BAB7-5FA74A4B540C}" srcOrd="0" destOrd="0" presId="urn:microsoft.com/office/officeart/2018/2/layout/IconLabelDescriptionList"/>
    <dgm:cxn modelId="{E7A67F1A-9048-4FE6-AD0C-8D8EF9E0B597}" type="presParOf" srcId="{2219F334-893A-4108-BAB7-5FA74A4B540C}" destId="{B355F27B-AFFE-4AF3-9A8C-7B01D9640C3A}" srcOrd="0" destOrd="0" presId="urn:microsoft.com/office/officeart/2018/2/layout/IconLabelDescriptionList"/>
    <dgm:cxn modelId="{558B3EEF-67D2-4FB9-94A3-E828797F0ECA}" type="presParOf" srcId="{2219F334-893A-4108-BAB7-5FA74A4B540C}" destId="{173540D9-8FF7-4DCB-B819-F846254C3282}" srcOrd="1" destOrd="0" presId="urn:microsoft.com/office/officeart/2018/2/layout/IconLabelDescriptionList"/>
    <dgm:cxn modelId="{8D2252C7-FACD-4C11-8E08-FB56C53D11C7}" type="presParOf" srcId="{2219F334-893A-4108-BAB7-5FA74A4B540C}" destId="{3075CB73-9563-4A6E-A0A0-5A4A2EC59208}" srcOrd="2" destOrd="0" presId="urn:microsoft.com/office/officeart/2018/2/layout/IconLabelDescriptionList"/>
    <dgm:cxn modelId="{3BE2D304-AF9D-4BBB-AF45-D082C9B85112}" type="presParOf" srcId="{2219F334-893A-4108-BAB7-5FA74A4B540C}" destId="{2B46CD8C-90F5-4A25-8BB3-503D4841B33F}" srcOrd="3" destOrd="0" presId="urn:microsoft.com/office/officeart/2018/2/layout/IconLabelDescriptionList"/>
    <dgm:cxn modelId="{DEABC8B4-2728-474D-9B17-1E9A50F25A7A}" type="presParOf" srcId="{2219F334-893A-4108-BAB7-5FA74A4B540C}" destId="{60BFB5D5-27D4-4829-89A3-5A97571DCC7B}" srcOrd="4" destOrd="0" presId="urn:microsoft.com/office/officeart/2018/2/layout/IconLabelDescriptionList"/>
    <dgm:cxn modelId="{9787ED4F-2F3C-495A-ADA9-A88ECD7A4CCB}" type="presParOf" srcId="{1089ECD8-78FC-4F0C-8779-316047457AB4}" destId="{BD9D9F7C-9453-4E22-BDFA-8D1C9389369F}" srcOrd="1" destOrd="0" presId="urn:microsoft.com/office/officeart/2018/2/layout/IconLabelDescriptionList"/>
    <dgm:cxn modelId="{8A6D67BA-1458-40C7-95F5-2CD8C9069548}" type="presParOf" srcId="{1089ECD8-78FC-4F0C-8779-316047457AB4}" destId="{1BAAFAA7-4E0D-424F-8982-C7871ED03298}" srcOrd="2" destOrd="0" presId="urn:microsoft.com/office/officeart/2018/2/layout/IconLabelDescriptionList"/>
    <dgm:cxn modelId="{B962C073-9814-4315-B354-5E3C625B73D3}" type="presParOf" srcId="{1BAAFAA7-4E0D-424F-8982-C7871ED03298}" destId="{4BA3195D-AB64-47EF-9E88-7C1F7241666A}" srcOrd="0" destOrd="0" presId="urn:microsoft.com/office/officeart/2018/2/layout/IconLabelDescriptionList"/>
    <dgm:cxn modelId="{858A3705-CF15-41BA-88B2-0341579CCEBD}" type="presParOf" srcId="{1BAAFAA7-4E0D-424F-8982-C7871ED03298}" destId="{61C906B6-F9DA-4B5E-AA0A-0A36A8FE1A39}" srcOrd="1" destOrd="0" presId="urn:microsoft.com/office/officeart/2018/2/layout/IconLabelDescriptionList"/>
    <dgm:cxn modelId="{C5823320-150E-42F6-964F-A1D04B558C24}" type="presParOf" srcId="{1BAAFAA7-4E0D-424F-8982-C7871ED03298}" destId="{048C18D8-032A-4FAF-AE00-2ABBDE2D9CD1}" srcOrd="2" destOrd="0" presId="urn:microsoft.com/office/officeart/2018/2/layout/IconLabelDescriptionList"/>
    <dgm:cxn modelId="{66201D59-EE84-4DC3-B2E4-84C945F00759}" type="presParOf" srcId="{1BAAFAA7-4E0D-424F-8982-C7871ED03298}" destId="{D905ECD5-A48B-4DFA-B909-97C1D49FFDCD}" srcOrd="3" destOrd="0" presId="urn:microsoft.com/office/officeart/2018/2/layout/IconLabelDescriptionList"/>
    <dgm:cxn modelId="{2404BEC8-1346-4AF9-B359-3A3F76A48C14}" type="presParOf" srcId="{1BAAFAA7-4E0D-424F-8982-C7871ED03298}" destId="{EFB93E69-5196-46FC-AEB5-AC515DE6A211}" srcOrd="4" destOrd="0" presId="urn:microsoft.com/office/officeart/2018/2/layout/IconLabelDescriptionList"/>
    <dgm:cxn modelId="{2573377A-7602-4FD9-8DAB-9AB4AAE20635}" type="presParOf" srcId="{1089ECD8-78FC-4F0C-8779-316047457AB4}" destId="{D3B63534-9DA6-478D-9C17-955A8DC6EEED}" srcOrd="3" destOrd="0" presId="urn:microsoft.com/office/officeart/2018/2/layout/IconLabelDescriptionList"/>
    <dgm:cxn modelId="{0D43AE07-5FC7-4351-8048-621EFEF77C9A}" type="presParOf" srcId="{1089ECD8-78FC-4F0C-8779-316047457AB4}" destId="{63D2BB8E-3714-42C4-A690-8CF55942FCEC}" srcOrd="4" destOrd="0" presId="urn:microsoft.com/office/officeart/2018/2/layout/IconLabelDescriptionList"/>
    <dgm:cxn modelId="{3C7E14B8-0788-4E06-AFE2-841C9D13BAB2}" type="presParOf" srcId="{63D2BB8E-3714-42C4-A690-8CF55942FCEC}" destId="{DD428BCA-CE34-4791-BDB3-8C65E9966798}" srcOrd="0" destOrd="0" presId="urn:microsoft.com/office/officeart/2018/2/layout/IconLabelDescriptionList"/>
    <dgm:cxn modelId="{0056F717-75B4-4333-A90F-38A903A236FB}" type="presParOf" srcId="{63D2BB8E-3714-42C4-A690-8CF55942FCEC}" destId="{4970D7C4-B2E9-4BCF-BDB4-2E3DF5D6571D}" srcOrd="1" destOrd="0" presId="urn:microsoft.com/office/officeart/2018/2/layout/IconLabelDescriptionList"/>
    <dgm:cxn modelId="{933D67AC-E0EE-4987-B9C8-1C0052DFC7CC}" type="presParOf" srcId="{63D2BB8E-3714-42C4-A690-8CF55942FCEC}" destId="{14EA33EE-3BC9-474E-A606-F874365A453F}" srcOrd="2" destOrd="0" presId="urn:microsoft.com/office/officeart/2018/2/layout/IconLabelDescriptionList"/>
    <dgm:cxn modelId="{95E764A2-AED9-4337-AE63-8DE748DFAC2A}" type="presParOf" srcId="{63D2BB8E-3714-42C4-A690-8CF55942FCEC}" destId="{F2008744-9ABF-4D66-922F-58A65621833F}" srcOrd="3" destOrd="0" presId="urn:microsoft.com/office/officeart/2018/2/layout/IconLabelDescriptionList"/>
    <dgm:cxn modelId="{0186979A-9CAF-4DE8-841F-C89EF5D6CCC3}" type="presParOf" srcId="{63D2BB8E-3714-42C4-A690-8CF55942FCEC}" destId="{C1519D8A-360B-4B08-8DAE-F9BCD40CD1CF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55F27B-AFFE-4AF3-9A8C-7B01D9640C3A}">
      <dsp:nvSpPr>
        <dsp:cNvPr id="0" name=""/>
        <dsp:cNvSpPr/>
      </dsp:nvSpPr>
      <dsp:spPr>
        <a:xfrm>
          <a:off x="8602" y="449910"/>
          <a:ext cx="1003081" cy="10030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75CB73-9563-4A6E-A0A0-5A4A2EC59208}">
      <dsp:nvSpPr>
        <dsp:cNvPr id="0" name=""/>
        <dsp:cNvSpPr/>
      </dsp:nvSpPr>
      <dsp:spPr>
        <a:xfrm>
          <a:off x="8602" y="1590320"/>
          <a:ext cx="2865948" cy="429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i="0" kern="1200" baseline="0"/>
            <a:t>Context</a:t>
          </a:r>
          <a:r>
            <a:rPr lang="en-US" sz="2000" b="0" i="0" kern="1200" baseline="0"/>
            <a:t> </a:t>
          </a:r>
          <a:endParaRPr lang="en-US" sz="2000" kern="1200"/>
        </a:p>
      </dsp:txBody>
      <dsp:txXfrm>
        <a:off x="8602" y="1590320"/>
        <a:ext cx="2865948" cy="429892"/>
      </dsp:txXfrm>
    </dsp:sp>
    <dsp:sp modelId="{60BFB5D5-27D4-4829-89A3-5A97571DCC7B}">
      <dsp:nvSpPr>
        <dsp:cNvPr id="0" name=""/>
        <dsp:cNvSpPr/>
      </dsp:nvSpPr>
      <dsp:spPr>
        <a:xfrm>
          <a:off x="8602" y="2084085"/>
          <a:ext cx="2865948" cy="1559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LLMs → high inference cost and environmental impact </a:t>
          </a:r>
          <a:endParaRPr lang="en-US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Pruning reduces cost but requires many expensive experiments </a:t>
          </a:r>
          <a:endParaRPr lang="en-US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Developers lack transparent tools for trade-offs </a:t>
          </a:r>
          <a:endParaRPr lang="en-US" sz="1500" kern="1200"/>
        </a:p>
      </dsp:txBody>
      <dsp:txXfrm>
        <a:off x="8602" y="2084085"/>
        <a:ext cx="2865948" cy="1559485"/>
      </dsp:txXfrm>
    </dsp:sp>
    <dsp:sp modelId="{4BA3195D-AB64-47EF-9E88-7C1F7241666A}">
      <dsp:nvSpPr>
        <dsp:cNvPr id="0" name=""/>
        <dsp:cNvSpPr/>
      </dsp:nvSpPr>
      <dsp:spPr>
        <a:xfrm>
          <a:off x="3376092" y="449910"/>
          <a:ext cx="1003081" cy="10030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8C18D8-032A-4FAF-AE00-2ABBDE2D9CD1}">
      <dsp:nvSpPr>
        <dsp:cNvPr id="0" name=""/>
        <dsp:cNvSpPr/>
      </dsp:nvSpPr>
      <dsp:spPr>
        <a:xfrm>
          <a:off x="3376092" y="1590320"/>
          <a:ext cx="2865948" cy="429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i="0" kern="1200" baseline="0"/>
            <a:t>Approach</a:t>
          </a:r>
          <a:r>
            <a:rPr lang="en-US" sz="2000" b="0" i="0" kern="1200" baseline="0"/>
            <a:t> </a:t>
          </a:r>
          <a:endParaRPr lang="en-US" sz="2000" kern="1200"/>
        </a:p>
      </dsp:txBody>
      <dsp:txXfrm>
        <a:off x="3376092" y="1590320"/>
        <a:ext cx="2865948" cy="429892"/>
      </dsp:txXfrm>
    </dsp:sp>
    <dsp:sp modelId="{EFB93E69-5196-46FC-AEB5-AC515DE6A211}">
      <dsp:nvSpPr>
        <dsp:cNvPr id="0" name=""/>
        <dsp:cNvSpPr/>
      </dsp:nvSpPr>
      <dsp:spPr>
        <a:xfrm>
          <a:off x="3376092" y="2084085"/>
          <a:ext cx="2865948" cy="1559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Bayesian surrogate model predicts pruning outcomes </a:t>
          </a:r>
          <a:endParaRPr lang="en-US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Bayesian optimization reduces number of evaluations </a:t>
          </a:r>
          <a:endParaRPr lang="en-US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Integrated into sustainability dashboard </a:t>
          </a:r>
          <a:endParaRPr lang="en-US" sz="1500" kern="1200"/>
        </a:p>
      </dsp:txBody>
      <dsp:txXfrm>
        <a:off x="3376092" y="2084085"/>
        <a:ext cx="2865948" cy="1559485"/>
      </dsp:txXfrm>
    </dsp:sp>
    <dsp:sp modelId="{DD428BCA-CE34-4791-BDB3-8C65E9966798}">
      <dsp:nvSpPr>
        <dsp:cNvPr id="0" name=""/>
        <dsp:cNvSpPr/>
      </dsp:nvSpPr>
      <dsp:spPr>
        <a:xfrm>
          <a:off x="6743581" y="449910"/>
          <a:ext cx="1003081" cy="10030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EA33EE-3BC9-474E-A606-F874365A453F}">
      <dsp:nvSpPr>
        <dsp:cNvPr id="0" name=""/>
        <dsp:cNvSpPr/>
      </dsp:nvSpPr>
      <dsp:spPr>
        <a:xfrm>
          <a:off x="6743581" y="1590320"/>
          <a:ext cx="2865948" cy="429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i="0" kern="1200" baseline="0"/>
            <a:t>Main Research Question</a:t>
          </a:r>
          <a:r>
            <a:rPr lang="en-US" sz="2000" b="0" i="0" kern="1200" baseline="0"/>
            <a:t> </a:t>
          </a:r>
          <a:endParaRPr lang="en-US" sz="2000" kern="1200"/>
        </a:p>
      </dsp:txBody>
      <dsp:txXfrm>
        <a:off x="6743581" y="1590320"/>
        <a:ext cx="2865948" cy="429892"/>
      </dsp:txXfrm>
    </dsp:sp>
    <dsp:sp modelId="{C1519D8A-360B-4B08-8DAE-F9BCD40CD1CF}">
      <dsp:nvSpPr>
        <dsp:cNvPr id="0" name=""/>
        <dsp:cNvSpPr/>
      </dsp:nvSpPr>
      <dsp:spPr>
        <a:xfrm>
          <a:off x="6743581" y="2084085"/>
          <a:ext cx="2865948" cy="1559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1" kern="1200" baseline="0"/>
            <a:t>To what extent can Bayesian surrogate-based optimization guide magnitude-based pruning to reduce ecological impact while preserving performance and supporting transparent decision-making?</a:t>
          </a:r>
          <a:endParaRPr lang="en-US" sz="1500" kern="1200"/>
        </a:p>
      </dsp:txBody>
      <dsp:txXfrm>
        <a:off x="6743581" y="2084085"/>
        <a:ext cx="2865948" cy="15594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C206B0-DEAD-4A77-91F9-8DC02C8E621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3BD716-A2FE-4562-A88B-D53C8A4C3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74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project focuses on reducing the environmental impact of large language models by making pruning optimization more efficient using Bayesian surrogate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BD716-A2FE-4562-A88B-D53C8A4C37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82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Colossal Clean Crawled Corpus (C4)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BD716-A2FE-4562-A88B-D53C8A4C37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52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81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10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264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205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41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310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24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842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905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12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3640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9925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9116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430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8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6A52-0672-4443-904A-3DC5509CBBD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42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0F6A52-0672-4443-904A-3DC5509CBBDF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53A6B65-7369-4901-B3EA-7CCA42327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77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783C067-F8BF-4755-B516-8A0CD74C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2ED796EC-E7FF-46DB-B912-FB08BF12A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549A2DAB-B431-487D-95AD-BB0FECB49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alpha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ECDEE1-7093-418F-9CF5-24EEB115C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45062AF-EB11-4651-BC4A-4DA21768D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838F524D-DB58-9798-A59D-09CEB6EAB1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A1C67-E1DE-A7BD-C890-836223C7B9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397000"/>
            <a:ext cx="7766936" cy="2653836"/>
          </a:xfrm>
        </p:spPr>
        <p:txBody>
          <a:bodyPr>
            <a:normAutofit/>
          </a:bodyPr>
          <a:lstStyle/>
          <a:p>
            <a:r>
              <a:rPr lang="en-GB" sz="5000" dirty="0"/>
              <a:t>Sustainable optimization of LLMs using Bayesian surrogate-based pruning</a:t>
            </a:r>
            <a:endParaRPr lang="en-US" sz="5000" dirty="0"/>
          </a:p>
        </p:txBody>
      </p:sp>
    </p:spTree>
    <p:extLst>
      <p:ext uri="{BB962C8B-B14F-4D97-AF65-F5344CB8AC3E}">
        <p14:creationId xmlns:p14="http://schemas.microsoft.com/office/powerpoint/2010/main" val="2440637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B735C-C6ED-A3FB-3613-4C8D68437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dirty="0"/>
              <a:t>Context and Research question</a:t>
            </a: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5A32B02-E39F-1B10-F04D-D34B02E64D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574890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931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A4905-A2A6-10F1-0458-1E0AF53C5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66E80A1-40EF-8AA6-1D63-69E123B5A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47A3BB66-56A3-8BAB-0A59-150CEAC7C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EFCFCAF2-DE78-3486-EB0A-0184F4677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B63E65A-A2A9-4BAC-D35F-2CA3711E7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50" y="3739696"/>
            <a:ext cx="9351500" cy="31183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12595BF-0D5F-BE23-1344-DE5647589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538" y="59119"/>
            <a:ext cx="10494923" cy="354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054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8762E88-5D09-5104-C2D9-813D527269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074" r="20269"/>
          <a:stretch>
            <a:fillRect/>
          </a:stretch>
        </p:blipFill>
        <p:spPr>
          <a:xfrm>
            <a:off x="859019" y="162871"/>
            <a:ext cx="10718692" cy="653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204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B9182-7319-1893-C283-ABB413FD1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choice (WikiText-2)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3E575-E0AA-8BB7-8C5F-7E351A37F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Pros</a:t>
            </a:r>
            <a:endParaRPr lang="en-GB" dirty="0"/>
          </a:p>
          <a:p>
            <a:r>
              <a:rPr lang="en-GB" dirty="0"/>
              <a:t>Preserves natural language features (casing, punctuation, document structure), unlike older benchmarks like Penn Treebank</a:t>
            </a:r>
          </a:p>
          <a:p>
            <a:r>
              <a:rPr lang="en-GB" dirty="0"/>
              <a:t>General-purpose benchmark for perplexity, </a:t>
            </a:r>
            <a:r>
              <a:rPr lang="en-GB" b="1" dirty="0"/>
              <a:t>not task-specific</a:t>
            </a:r>
            <a:r>
              <a:rPr lang="en-GB" dirty="0"/>
              <a:t>, so it measures overall language </a:t>
            </a:r>
            <a:r>
              <a:rPr lang="en-GB" dirty="0" err="1"/>
              <a:t>modeling</a:t>
            </a:r>
            <a:r>
              <a:rPr lang="en-GB" dirty="0"/>
              <a:t> quality before and after pruning</a:t>
            </a:r>
          </a:p>
          <a:p>
            <a:r>
              <a:rPr lang="en-GB" dirty="0"/>
              <a:t>Small enough for rapid, repeated experimentation on limited hardware, but still has realistic vocabulary complexity 33k+ unique words</a:t>
            </a:r>
          </a:p>
          <a:p>
            <a:r>
              <a:rPr lang="en-GB" dirty="0"/>
              <a:t>Widely adopted, enabling comparison with prior work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b="1" dirty="0"/>
              <a:t>Cons / Limitations</a:t>
            </a:r>
            <a:endParaRPr lang="en-GB" dirty="0"/>
          </a:p>
          <a:p>
            <a:r>
              <a:rPr lang="en-GB" dirty="0"/>
              <a:t>Wikipedia domain bias: doesn't represent all real-world text</a:t>
            </a:r>
          </a:p>
          <a:p>
            <a:r>
              <a:rPr lang="en-GB" dirty="0"/>
              <a:t>Benchmark saturation: models have been implicitly optimized for it over time</a:t>
            </a:r>
          </a:p>
          <a:p>
            <a:r>
              <a:rPr lang="en-GB" dirty="0"/>
              <a:t>Perplexity improvements can reflect architecture tricks (memory, context length), not true understanding</a:t>
            </a:r>
          </a:p>
          <a:p>
            <a:r>
              <a:rPr lang="en-GB" dirty="0"/>
              <a:t>Risk of data leakage: overlap with model training data</a:t>
            </a:r>
          </a:p>
          <a:p>
            <a:r>
              <a:rPr lang="en-GB" dirty="0"/>
              <a:t>&lt;</a:t>
            </a:r>
            <a:r>
              <a:rPr lang="en-GB" dirty="0" err="1"/>
              <a:t>unk</a:t>
            </a:r>
            <a:r>
              <a:rPr lang="en-GB" dirty="0"/>
              <a:t>&gt; tokens from vocabulary cutoff can make perplexity artificially easier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660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D032B-7E7F-7924-59A3-80C0A5E8E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4C36D1E8-F6D3-BAE4-4B5E-A3604ED03B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3129" y="3142961"/>
            <a:ext cx="3630885" cy="3434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2E1190-EBBE-A1D8-EECE-66E5D9AC4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05" y="387134"/>
            <a:ext cx="3562847" cy="30865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CD523F-AC08-BD8D-F280-7AE335376C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426" y="387134"/>
            <a:ext cx="5482555" cy="24629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4777CB-6CA1-58CB-633E-D84777D9B6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7" y="4614504"/>
            <a:ext cx="3846133" cy="99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609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75573-EA18-4B93-6272-BE77A9C6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82A2F-7B43-8593-5B9C-AEEE5173D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7A5C89-BC38-2E58-F0D3-A2466623F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91" y="3654948"/>
            <a:ext cx="9079671" cy="32030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A65934-D329-ACBB-1834-6DE594591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67" y="160045"/>
            <a:ext cx="10965617" cy="331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236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53AA5-BFB8-8520-D3F7-41D91278E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E838A-677E-F626-E338-D51E55761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A7FE56-7771-36A6-2528-96BCC0288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09" y="1778255"/>
            <a:ext cx="11968667" cy="421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743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8EE82-E3D5-E67C-B9E3-05663275B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Step 1: Dataset creation with Active Learning with a Gaussian Process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C949D-A13A-393B-4723-AD9CC16BC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438" y="2076183"/>
            <a:ext cx="7847688" cy="388077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Use a GP surrogate to model perplexity as a function of pruning threshold</a:t>
            </a:r>
          </a:p>
          <a:p>
            <a:r>
              <a:rPr lang="en-GB" dirty="0"/>
              <a:t>At each step, evaluate where the GP is </a:t>
            </a:r>
            <a:r>
              <a:rPr lang="en-GB" b="1" dirty="0"/>
              <a:t>most uncertain</a:t>
            </a:r>
            <a:r>
              <a:rPr lang="en-GB" dirty="0"/>
              <a:t> (Max Variance acquisition) pure exploration, not optimization</a:t>
            </a:r>
          </a:p>
          <a:p>
            <a:r>
              <a:rPr lang="en-GB" dirty="0"/>
              <a:t>Budget: 6 initial uniform samples + 25 iterations = </a:t>
            </a:r>
            <a:r>
              <a:rPr lang="en-GB" b="1" dirty="0"/>
              <a:t>31 evaluations (~30% of grid search)</a:t>
            </a:r>
            <a:endParaRPr lang="en-GB" dirty="0"/>
          </a:p>
          <a:p>
            <a:r>
              <a:rPr lang="en-GB" dirty="0"/>
              <a:t>Also run the full grid search as a reference for comparison C</a:t>
            </a:r>
          </a:p>
          <a:p>
            <a:r>
              <a:rPr lang="en-GB" dirty="0"/>
              <a:t>Check if the full 101 data points are needed, and worth the energy consumption</a:t>
            </a:r>
          </a:p>
          <a:p>
            <a:r>
              <a:rPr lang="en-GB" dirty="0"/>
              <a:t>Evaluation time:</a:t>
            </a:r>
          </a:p>
          <a:p>
            <a:pPr lvl="1"/>
            <a:r>
              <a:rPr lang="en-GB" dirty="0"/>
              <a:t>1 minute per prune &amp; benchmark * 101 evaluations * 3 models = 5 hours to create the dataset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9933C6-DC5D-A02C-9D9F-F5C77CEC6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126" y="1493227"/>
            <a:ext cx="3975100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24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267EEE4-6354-4F1C-9484-951F0EB92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6" y="0"/>
            <a:ext cx="121856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1BF22-AC70-9C91-CE7F-406A3BD12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04" y="91310"/>
            <a:ext cx="5498361" cy="1320800"/>
          </a:xfrm>
        </p:spPr>
        <p:txBody>
          <a:bodyPr anchor="ctr">
            <a:normAutofit/>
          </a:bodyPr>
          <a:lstStyle/>
          <a:p>
            <a:r>
              <a:rPr lang="en-US" dirty="0"/>
              <a:t>Gaussian Process setup</a:t>
            </a:r>
          </a:p>
        </p:txBody>
      </p:sp>
      <p:sp>
        <p:nvSpPr>
          <p:cNvPr id="1033" name="Isosceles Triangle 1032">
            <a:extLst>
              <a:ext uri="{FF2B5EF4-FFF2-40B4-BE49-F238E27FC236}">
                <a16:creationId xmlns:a16="http://schemas.microsoft.com/office/drawing/2014/main" id="{0E5A83F9-E6B8-40BD-9C0D-9A6F15650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rgbClr val="5A5A3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FB55C-B3CF-4D7C-A2E4-9B1D2CCE0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1341" y="2058989"/>
            <a:ext cx="3063585" cy="360716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GB" sz="1100" b="1" dirty="0"/>
              <a:t>Key Hyperparameters</a:t>
            </a:r>
            <a:endParaRPr lang="en-GB" sz="1100" dirty="0"/>
          </a:p>
          <a:p>
            <a:pPr lvl="1">
              <a:lnSpc>
                <a:spcPct val="90000"/>
              </a:lnSpc>
            </a:pPr>
            <a:r>
              <a:rPr lang="en-GB" sz="1100" b="1" dirty="0"/>
              <a:t>alpha = 1e-3</a:t>
            </a:r>
            <a:r>
              <a:rPr lang="en-GB" sz="1100" dirty="0"/>
              <a:t> → small noise + numerical stability </a:t>
            </a:r>
          </a:p>
          <a:p>
            <a:pPr lvl="1">
              <a:lnSpc>
                <a:spcPct val="90000"/>
              </a:lnSpc>
            </a:pPr>
            <a:r>
              <a:rPr lang="en-GB" sz="1100" b="1" dirty="0" err="1"/>
              <a:t>normalize_y</a:t>
            </a:r>
            <a:r>
              <a:rPr lang="en-GB" sz="1100" b="1" dirty="0"/>
              <a:t> = True</a:t>
            </a:r>
            <a:r>
              <a:rPr lang="en-GB" sz="1100" dirty="0"/>
              <a:t> → stabilizes optimization </a:t>
            </a:r>
          </a:p>
          <a:p>
            <a:pPr lvl="1">
              <a:lnSpc>
                <a:spcPct val="90000"/>
              </a:lnSpc>
            </a:pPr>
            <a:r>
              <a:rPr lang="en-GB" sz="1100" b="1" dirty="0"/>
              <a:t>optimizer = L-BFGS-B</a:t>
            </a:r>
            <a:r>
              <a:rPr lang="en-GB" sz="1100" dirty="0"/>
              <a:t> → efficient for small data </a:t>
            </a:r>
          </a:p>
          <a:p>
            <a:pPr lvl="1">
              <a:lnSpc>
                <a:spcPct val="90000"/>
              </a:lnSpc>
            </a:pPr>
            <a:r>
              <a:rPr lang="en-GB" sz="1100" b="1" dirty="0" err="1"/>
              <a:t>n_restarts</a:t>
            </a:r>
            <a:r>
              <a:rPr lang="en-GB" sz="1100" b="1" dirty="0"/>
              <a:t> = 0</a:t>
            </a:r>
            <a:r>
              <a:rPr lang="en-GB" sz="1100" dirty="0"/>
              <a:t> → faster active learning loop </a:t>
            </a:r>
          </a:p>
          <a:p>
            <a:pPr>
              <a:lnSpc>
                <a:spcPct val="90000"/>
              </a:lnSpc>
            </a:pPr>
            <a:r>
              <a:rPr lang="en-GB" sz="1100" b="1" dirty="0"/>
              <a:t>Preprocessing</a:t>
            </a:r>
            <a:endParaRPr lang="en-GB" sz="1100" dirty="0"/>
          </a:p>
          <a:p>
            <a:pPr lvl="1">
              <a:lnSpc>
                <a:spcPct val="90000"/>
              </a:lnSpc>
            </a:pPr>
            <a:r>
              <a:rPr lang="en-GB" sz="1100" b="1" dirty="0"/>
              <a:t>Log-transform perplexity</a:t>
            </a:r>
            <a:r>
              <a:rPr lang="en-GB" sz="11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GB" sz="1100" dirty="0"/>
              <a:t>Reduces large dynamic range → improves GP fit and uncertainty estimates</a:t>
            </a:r>
          </a:p>
          <a:p>
            <a:pPr>
              <a:lnSpc>
                <a:spcPct val="90000"/>
              </a:lnSpc>
            </a:pPr>
            <a:endParaRPr lang="en-US" sz="11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F237824-ABD5-3A69-5175-58D0BDFD8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4" r="-3" b="-3"/>
          <a:stretch>
            <a:fillRect/>
          </a:stretch>
        </p:blipFill>
        <p:spPr bwMode="auto">
          <a:xfrm>
            <a:off x="7304926" y="38035"/>
            <a:ext cx="4657341" cy="344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E14709-44A1-5D7A-77FC-E8725A52B7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09" r="-1" b="-1"/>
          <a:stretch>
            <a:fillRect/>
          </a:stretch>
        </p:blipFill>
        <p:spPr>
          <a:xfrm>
            <a:off x="7528308" y="3437472"/>
            <a:ext cx="4657341" cy="342899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F5D499-75F6-0177-509A-ECA04ADF74D1}"/>
              </a:ext>
            </a:extLst>
          </p:cNvPr>
          <p:cNvSpPr txBox="1">
            <a:spLocks/>
          </p:cNvSpPr>
          <p:nvPr/>
        </p:nvSpPr>
        <p:spPr>
          <a:xfrm>
            <a:off x="421298" y="1724217"/>
            <a:ext cx="3469688" cy="25809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GB" sz="1200" b="1" dirty="0"/>
              <a:t>Why GP</a:t>
            </a:r>
            <a:endParaRPr lang="en-GB" sz="1200" dirty="0"/>
          </a:p>
          <a:p>
            <a:pPr lvl="1">
              <a:lnSpc>
                <a:spcPct val="90000"/>
              </a:lnSpc>
            </a:pPr>
            <a:r>
              <a:rPr lang="en-GB" sz="1200" dirty="0"/>
              <a:t>Predicts both mean and uncertainty </a:t>
            </a:r>
          </a:p>
          <a:p>
            <a:pPr lvl="1">
              <a:lnSpc>
                <a:spcPct val="90000"/>
              </a:lnSpc>
            </a:pPr>
            <a:r>
              <a:rPr lang="en-GB" sz="1200" dirty="0"/>
              <a:t>Works well with small, sequential datasets </a:t>
            </a:r>
          </a:p>
          <a:p>
            <a:pPr lvl="1">
              <a:lnSpc>
                <a:spcPct val="90000"/>
              </a:lnSpc>
            </a:pPr>
            <a:r>
              <a:rPr lang="en-GB" sz="1200" dirty="0"/>
              <a:t>Enables uncertainty-based sampling (Max Variance) </a:t>
            </a:r>
          </a:p>
          <a:p>
            <a:pPr lvl="1">
              <a:lnSpc>
                <a:spcPct val="90000"/>
              </a:lnSpc>
            </a:pPr>
            <a:r>
              <a:rPr lang="en-GB" sz="1200" dirty="0"/>
              <a:t>Used for data acquisition, not final surrogate </a:t>
            </a:r>
          </a:p>
          <a:p>
            <a:pPr>
              <a:lnSpc>
                <a:spcPct val="90000"/>
              </a:lnSpc>
            </a:pPr>
            <a:r>
              <a:rPr lang="en-GB" sz="1200" b="1" dirty="0"/>
              <a:t>Kernel Choice</a:t>
            </a:r>
            <a:endParaRPr lang="en-GB" sz="1200" dirty="0"/>
          </a:p>
          <a:p>
            <a:pPr lvl="1">
              <a:lnSpc>
                <a:spcPct val="90000"/>
              </a:lnSpc>
            </a:pPr>
            <a:r>
              <a:rPr lang="en-GB" sz="1200" b="1" dirty="0"/>
              <a:t>Constant × </a:t>
            </a:r>
            <a:r>
              <a:rPr lang="en-GB" sz="1200" b="1" dirty="0" err="1"/>
              <a:t>Matérn</a:t>
            </a:r>
            <a:r>
              <a:rPr lang="en-GB" sz="1200" b="1" dirty="0"/>
              <a:t> (</a:t>
            </a:r>
            <a:r>
              <a:rPr lang="el-GR" sz="1200" b="1" dirty="0"/>
              <a:t>ν = 2.5)</a:t>
            </a:r>
            <a:r>
              <a:rPr lang="el-GR" sz="12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GB" sz="1200" dirty="0"/>
              <a:t>Captures mostly smooth behaviour with possible sharp transitions </a:t>
            </a:r>
          </a:p>
          <a:p>
            <a:pPr lvl="1">
              <a:lnSpc>
                <a:spcPct val="90000"/>
              </a:lnSpc>
            </a:pPr>
            <a:r>
              <a:rPr lang="en-GB" sz="1200" dirty="0"/>
              <a:t>More flexible than RBF, avoids over-smoothing </a:t>
            </a:r>
          </a:p>
          <a:p>
            <a:pPr>
              <a:lnSpc>
                <a:spcPct val="90000"/>
              </a:lnSpc>
            </a:pPr>
            <a:r>
              <a:rPr lang="en-GB" sz="1200" b="1" dirty="0"/>
              <a:t>Length-scale</a:t>
            </a:r>
            <a:endParaRPr lang="en-GB" sz="1200" dirty="0"/>
          </a:p>
          <a:p>
            <a:pPr lvl="1">
              <a:lnSpc>
                <a:spcPct val="90000"/>
              </a:lnSpc>
            </a:pPr>
            <a:r>
              <a:rPr lang="en-GB" sz="1200" dirty="0"/>
              <a:t>Learned via log-marginal likelihood </a:t>
            </a:r>
          </a:p>
          <a:p>
            <a:pPr lvl="1">
              <a:lnSpc>
                <a:spcPct val="90000"/>
              </a:lnSpc>
            </a:pPr>
            <a:r>
              <a:rPr lang="en-GB" sz="1200" dirty="0"/>
              <a:t>Avoids manual assumptions about smoothness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30374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77793-FFBE-8646-E076-4FB0E4DBF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253CE-7ACC-BB61-D99A-E7BA05AB7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CBBACF-091C-43B0-BB87-AF8F915EB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27" y="204380"/>
            <a:ext cx="10984839" cy="30070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67021A-9748-E17E-C83F-9B9F6F62F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645" y="3312493"/>
            <a:ext cx="9226710" cy="325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612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287D7-7D62-2961-6A3C-760405F85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Surrogate model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0EC66-F5DA-D183-F363-706F21C38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 a Gaussian process surrogate using the threshold evaluations for the 3 models</a:t>
            </a:r>
          </a:p>
          <a:p>
            <a:r>
              <a:rPr lang="en-US" dirty="0"/>
              <a:t>Select a new unseen model</a:t>
            </a:r>
          </a:p>
          <a:p>
            <a:r>
              <a:rPr lang="en-US" dirty="0"/>
              <a:t>Use 2-3 real evaluations (e.g. thresholds 0,5,10)</a:t>
            </a:r>
          </a:p>
          <a:p>
            <a:r>
              <a:rPr lang="en-US" dirty="0"/>
              <a:t>Predict the full curve 0 -&gt; 10 with steps of 0.1</a:t>
            </a:r>
          </a:p>
          <a:p>
            <a:r>
              <a:rPr lang="en-US" dirty="0"/>
              <a:t>Apply Pareto front analysis (Suggest and optimal threshold)</a:t>
            </a:r>
          </a:p>
        </p:txBody>
      </p:sp>
    </p:spTree>
    <p:extLst>
      <p:ext uri="{BB962C8B-B14F-4D97-AF65-F5344CB8AC3E}">
        <p14:creationId xmlns:p14="http://schemas.microsoft.com/office/powerpoint/2010/main" val="1530500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C1CB5-880B-4F07-1EDF-96C4E761F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66C07-9EBD-4839-2A67-6B7B80B71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Investigate gaussian surrogate setup</a:t>
            </a:r>
          </a:p>
          <a:p>
            <a:pPr lvl="1"/>
            <a:r>
              <a:rPr lang="en-US" dirty="0"/>
              <a:t>What kernel?</a:t>
            </a:r>
          </a:p>
          <a:p>
            <a:pPr lvl="1"/>
            <a:r>
              <a:rPr lang="en-US" dirty="0"/>
              <a:t>Other hyper params</a:t>
            </a:r>
          </a:p>
          <a:p>
            <a:pPr lvl="1"/>
            <a:r>
              <a:rPr lang="en-US" dirty="0"/>
              <a:t>Separate GP’s per metric / single weighted objective with a scalar</a:t>
            </a:r>
          </a:p>
          <a:p>
            <a:r>
              <a:rPr lang="en-US" dirty="0"/>
              <a:t>Evaluation</a:t>
            </a:r>
          </a:p>
          <a:p>
            <a:pPr lvl="1"/>
            <a:r>
              <a:rPr lang="en-US" dirty="0"/>
              <a:t>Select unseen models to get predictions for and compare against actual</a:t>
            </a:r>
          </a:p>
          <a:p>
            <a:pPr lvl="1"/>
            <a:r>
              <a:rPr lang="en-US" dirty="0"/>
              <a:t>User testing of perceived value of results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917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26E2E-47E2-B666-C02F-A95174957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4B09E-3DD2-A746-D724-E4D2A4F3F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it an issue to use the full dataset to make the pruning result dataset that will be used to train a surrogate?</a:t>
            </a:r>
          </a:p>
          <a:p>
            <a:r>
              <a:rPr lang="en-US" dirty="0"/>
              <a:t>Would it be better to have a scalar for the surrogate or a multi objective surrogate?</a:t>
            </a:r>
          </a:p>
        </p:txBody>
      </p:sp>
    </p:spTree>
    <p:extLst>
      <p:ext uri="{BB962C8B-B14F-4D97-AF65-F5344CB8AC3E}">
        <p14:creationId xmlns:p14="http://schemas.microsoft.com/office/powerpoint/2010/main" val="141956118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Custom 6">
      <a:dk1>
        <a:sysClr val="windowText" lastClr="000000"/>
      </a:dk1>
      <a:lt1>
        <a:sysClr val="window" lastClr="FFFFFF"/>
      </a:lt1>
      <a:dk2>
        <a:srgbClr val="739A28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102</TotalTime>
  <Words>616</Words>
  <Application>Microsoft Macintosh PowerPoint</Application>
  <PresentationFormat>Widescreen</PresentationFormat>
  <Paragraphs>75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Trebuchet MS</vt:lpstr>
      <vt:lpstr>Wingdings 3</vt:lpstr>
      <vt:lpstr>Facet</vt:lpstr>
      <vt:lpstr>Sustainable optimization of LLMs using Bayesian surrogate-based pruning</vt:lpstr>
      <vt:lpstr>Context and Research question</vt:lpstr>
      <vt:lpstr>PowerPoint Presentation</vt:lpstr>
      <vt:lpstr>PowerPoint Presentation</vt:lpstr>
      <vt:lpstr>Dataset choice (WikiText-2)</vt:lpstr>
      <vt:lpstr>PowerPoint Presentation</vt:lpstr>
      <vt:lpstr>PowerPoint Presentation</vt:lpstr>
      <vt:lpstr>PowerPoint Presentation</vt:lpstr>
      <vt:lpstr>Step 1: Dataset creation with Active Learning with a Gaussian Process </vt:lpstr>
      <vt:lpstr>Gaussian Process setup</vt:lpstr>
      <vt:lpstr>PowerPoint Presentation</vt:lpstr>
      <vt:lpstr>Step 2: Surrogate model creation</vt:lpstr>
      <vt:lpstr>Next steps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van der Velde</dc:creator>
  <cp:lastModifiedBy>Frank van der Velde</cp:lastModifiedBy>
  <cp:revision>10</cp:revision>
  <dcterms:created xsi:type="dcterms:W3CDTF">2026-03-22T19:22:42Z</dcterms:created>
  <dcterms:modified xsi:type="dcterms:W3CDTF">2026-04-16T09:26:55Z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1113265-c559-4850-9a4d-5c092dbd21ac_Enabled">
    <vt:lpwstr>true</vt:lpwstr>
  </property>
  <property fmtid="{D5CDD505-2E9C-101B-9397-08002B2CF9AE}" pid="3" name="MSIP_Label_a1113265-c559-4850-9a4d-5c092dbd21ac_SetDate">
    <vt:lpwstr>2026-04-16T09:26:55Z</vt:lpwstr>
  </property>
  <property fmtid="{D5CDD505-2E9C-101B-9397-08002B2CF9AE}" pid="4" name="MSIP_Label_a1113265-c559-4850-9a4d-5c092dbd21ac_Method">
    <vt:lpwstr>Standard</vt:lpwstr>
  </property>
  <property fmtid="{D5CDD505-2E9C-101B-9397-08002B2CF9AE}" pid="5" name="MSIP_Label_a1113265-c559-4850-9a4d-5c092dbd21ac_Name">
    <vt:lpwstr>Internal Use</vt:lpwstr>
  </property>
  <property fmtid="{D5CDD505-2E9C-101B-9397-08002B2CF9AE}" pid="6" name="MSIP_Label_a1113265-c559-4850-9a4d-5c092dbd21ac_SiteId">
    <vt:lpwstr>a6b169f1-592b-4329-8f33-8db8903003c7</vt:lpwstr>
  </property>
  <property fmtid="{D5CDD505-2E9C-101B-9397-08002B2CF9AE}" pid="7" name="MSIP_Label_a1113265-c559-4850-9a4d-5c092dbd21ac_ActionId">
    <vt:lpwstr>e75a9a01-01e5-4534-8c19-0ee3c0ce558c</vt:lpwstr>
  </property>
  <property fmtid="{D5CDD505-2E9C-101B-9397-08002B2CF9AE}" pid="8" name="MSIP_Label_a1113265-c559-4850-9a4d-5c092dbd21ac_ContentBits">
    <vt:lpwstr>0</vt:lpwstr>
  </property>
  <property fmtid="{D5CDD505-2E9C-101B-9397-08002B2CF9AE}" pid="9" name="MSIP_Label_a1113265-c559-4850-9a4d-5c092dbd21ac_Tag">
    <vt:lpwstr>50, 3, 0, 1</vt:lpwstr>
  </property>
</Properties>
</file>